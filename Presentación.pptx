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64" r:id="rId4"/>
    <p:sldId id="265" r:id="rId5"/>
    <p:sldId id="258" r:id="rId6"/>
    <p:sldId id="259" r:id="rId7"/>
    <p:sldId id="260" r:id="rId8"/>
    <p:sldId id="261" r:id="rId9"/>
    <p:sldId id="262" r:id="rId10"/>
    <p:sldId id="263" r:id="rId11"/>
    <p:sldId id="266" r:id="rId12"/>
    <p:sldId id="267" r:id="rId13"/>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B00A"/>
    <a:srgbClr val="FCAF04"/>
    <a:srgbClr val="13D313"/>
    <a:srgbClr val="255779"/>
    <a:srgbClr val="3274A1"/>
    <a:srgbClr val="6A1A6C"/>
    <a:srgbClr val="7C5378"/>
    <a:srgbClr val="2D223A"/>
    <a:srgbClr val="67001F"/>
    <a:srgbClr val="B4042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011" autoAdjust="0"/>
    <p:restoredTop sz="94660"/>
  </p:normalViewPr>
  <p:slideViewPr>
    <p:cSldViewPr snapToGrid="0">
      <p:cViewPr varScale="1">
        <p:scale>
          <a:sx n="77" d="100"/>
          <a:sy n="77" d="100"/>
        </p:scale>
        <p:origin x="72" y="37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p:cNvSpPr>
            <a:spLocks noGrp="1"/>
          </p:cNvSpPr>
          <p:nvPr>
            <p:ph type="subTitle" idx="1" hasCustomPrompt="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p:cNvSpPr>
            <a:spLocks noGrp="1"/>
          </p:cNvSpPr>
          <p:nvPr>
            <p:ph type="dt" sz="half" idx="10"/>
          </p:nvPr>
        </p:nvSpPr>
        <p:spPr/>
        <p:txBody>
          <a:bodyPr/>
          <a:lstStyle/>
          <a:p>
            <a:fld id="{6FEB4CCE-9E5C-4D7B-92E4-7FB210B21D7A}" type="datetimeFigureOut">
              <a:rPr lang="es-ES" smtClean="0"/>
              <a:t>19/01/2026</a:t>
            </a:fld>
            <a:endParaRPr lang="es-ES"/>
          </a:p>
        </p:txBody>
      </p:sp>
      <p:sp>
        <p:nvSpPr>
          <p:cNvPr id="5" name="Marcador de pie de página 4"/>
          <p:cNvSpPr>
            <a:spLocks noGrp="1"/>
          </p:cNvSpPr>
          <p:nvPr>
            <p:ph type="ftr" sz="quarter" idx="11"/>
          </p:nvPr>
        </p:nvSpPr>
        <p:spPr/>
        <p:txBody>
          <a:bodyPr/>
          <a:lstStyle/>
          <a:p>
            <a:endParaRPr lang="es-ES"/>
          </a:p>
        </p:txBody>
      </p:sp>
      <p:sp>
        <p:nvSpPr>
          <p:cNvPr id="6" name="Marcador de número de diapositiva 5"/>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p>
        </p:txBody>
      </p:sp>
      <p:sp>
        <p:nvSpPr>
          <p:cNvPr id="3" name="Marcador de contenido 2"/>
          <p:cNvSpPr>
            <a:spLocks noGrp="1"/>
          </p:cNvSpPr>
          <p:nvPr>
            <p:ph idx="1" hasCustomPrompt="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p:cNvSpPr>
            <a:spLocks noGrp="1"/>
          </p:cNvSpPr>
          <p:nvPr>
            <p:ph type="dt" sz="half" idx="10"/>
          </p:nvPr>
        </p:nvSpPr>
        <p:spPr/>
        <p:txBody>
          <a:bodyPr/>
          <a:lstStyle/>
          <a:p>
            <a:fld id="{6FEB4CCE-9E5C-4D7B-92E4-7FB210B21D7A}" type="datetimeFigureOut">
              <a:rPr lang="es-ES" smtClean="0"/>
              <a:t>19/01/2026</a:t>
            </a:fld>
            <a:endParaRPr lang="es-ES"/>
          </a:p>
        </p:txBody>
      </p:sp>
      <p:sp>
        <p:nvSpPr>
          <p:cNvPr id="5" name="Marcador de pie de página 4"/>
          <p:cNvSpPr>
            <a:spLocks noGrp="1"/>
          </p:cNvSpPr>
          <p:nvPr>
            <p:ph type="ftr" sz="quarter" idx="11"/>
          </p:nvPr>
        </p:nvSpPr>
        <p:spPr/>
        <p:txBody>
          <a:bodyPr/>
          <a:lstStyle/>
          <a:p>
            <a:endParaRPr lang="es-ES"/>
          </a:p>
        </p:txBody>
      </p:sp>
      <p:sp>
        <p:nvSpPr>
          <p:cNvPr id="6" name="Marcador de número de diapositiva 5"/>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p:cNvSpPr>
            <a:spLocks noGrp="1"/>
          </p:cNvSpPr>
          <p:nvPr>
            <p:ph type="body" idx="1" hasCustomPrompt="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p:cNvSpPr>
            <a:spLocks noGrp="1"/>
          </p:cNvSpPr>
          <p:nvPr>
            <p:ph type="dt" sz="half" idx="10"/>
          </p:nvPr>
        </p:nvSpPr>
        <p:spPr/>
        <p:txBody>
          <a:bodyPr/>
          <a:lstStyle/>
          <a:p>
            <a:fld id="{6FEB4CCE-9E5C-4D7B-92E4-7FB210B21D7A}" type="datetimeFigureOut">
              <a:rPr lang="es-ES" smtClean="0"/>
              <a:t>19/01/2026</a:t>
            </a:fld>
            <a:endParaRPr lang="es-ES"/>
          </a:p>
        </p:txBody>
      </p:sp>
      <p:sp>
        <p:nvSpPr>
          <p:cNvPr id="5" name="Marcador de pie de página 4"/>
          <p:cNvSpPr>
            <a:spLocks noGrp="1"/>
          </p:cNvSpPr>
          <p:nvPr>
            <p:ph type="ftr" sz="quarter" idx="11"/>
          </p:nvPr>
        </p:nvSpPr>
        <p:spPr/>
        <p:txBody>
          <a:bodyPr/>
          <a:lstStyle/>
          <a:p>
            <a:endParaRPr lang="es-ES"/>
          </a:p>
        </p:txBody>
      </p:sp>
      <p:sp>
        <p:nvSpPr>
          <p:cNvPr id="6" name="Marcador de número de diapositiva 5"/>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p>
        </p:txBody>
      </p:sp>
      <p:sp>
        <p:nvSpPr>
          <p:cNvPr id="3" name="Marcador de contenido 2"/>
          <p:cNvSpPr>
            <a:spLocks noGrp="1"/>
          </p:cNvSpPr>
          <p:nvPr>
            <p:ph sz="half" idx="1" hasCustomPrompt="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p:cNvSpPr>
            <a:spLocks noGrp="1"/>
          </p:cNvSpPr>
          <p:nvPr>
            <p:ph sz="half" idx="2" hasCustomPrompt="1"/>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p:cNvSpPr>
            <a:spLocks noGrp="1"/>
          </p:cNvSpPr>
          <p:nvPr>
            <p:ph type="dt" sz="half" idx="10"/>
          </p:nvPr>
        </p:nvSpPr>
        <p:spPr/>
        <p:txBody>
          <a:bodyPr/>
          <a:lstStyle/>
          <a:p>
            <a:fld id="{6FEB4CCE-9E5C-4D7B-92E4-7FB210B21D7A}" type="datetimeFigureOut">
              <a:rPr lang="es-ES" smtClean="0"/>
              <a:t>19/01/2026</a:t>
            </a:fld>
            <a:endParaRPr lang="es-ES"/>
          </a:p>
        </p:txBody>
      </p:sp>
      <p:sp>
        <p:nvSpPr>
          <p:cNvPr id="6" name="Marcador de pie de página 5"/>
          <p:cNvSpPr>
            <a:spLocks noGrp="1"/>
          </p:cNvSpPr>
          <p:nvPr>
            <p:ph type="ftr" sz="quarter" idx="11"/>
          </p:nvPr>
        </p:nvSpPr>
        <p:spPr/>
        <p:txBody>
          <a:bodyPr/>
          <a:lstStyle/>
          <a:p>
            <a:endParaRPr lang="es-ES"/>
          </a:p>
        </p:txBody>
      </p:sp>
      <p:sp>
        <p:nvSpPr>
          <p:cNvPr id="7" name="Marcador de número de diapositiva 6"/>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p:cNvSpPr>
            <a:spLocks noGrp="1"/>
          </p:cNvSpPr>
          <p:nvPr>
            <p:ph type="body" idx="1" hasCustomPrompt="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p:cNvSpPr>
            <a:spLocks noGrp="1"/>
          </p:cNvSpPr>
          <p:nvPr>
            <p:ph sz="half" idx="2" hasCustomPrompt="1"/>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p:cNvSpPr>
            <a:spLocks noGrp="1"/>
          </p:cNvSpPr>
          <p:nvPr>
            <p:ph type="body" sz="quarter" idx="3" hasCustomPrompt="1"/>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p:cNvSpPr>
            <a:spLocks noGrp="1"/>
          </p:cNvSpPr>
          <p:nvPr>
            <p:ph sz="quarter" idx="4" hasCustomPrompt="1"/>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p:cNvSpPr>
            <a:spLocks noGrp="1"/>
          </p:cNvSpPr>
          <p:nvPr>
            <p:ph type="dt" sz="half" idx="10"/>
          </p:nvPr>
        </p:nvSpPr>
        <p:spPr/>
        <p:txBody>
          <a:bodyPr/>
          <a:lstStyle/>
          <a:p>
            <a:fld id="{6FEB4CCE-9E5C-4D7B-92E4-7FB210B21D7A}" type="datetimeFigureOut">
              <a:rPr lang="es-ES" smtClean="0"/>
              <a:t>19/01/2026</a:t>
            </a:fld>
            <a:endParaRPr lang="es-ES"/>
          </a:p>
        </p:txBody>
      </p:sp>
      <p:sp>
        <p:nvSpPr>
          <p:cNvPr id="8" name="Marcador de pie de página 7"/>
          <p:cNvSpPr>
            <a:spLocks noGrp="1"/>
          </p:cNvSpPr>
          <p:nvPr>
            <p:ph type="ftr" sz="quarter" idx="11"/>
          </p:nvPr>
        </p:nvSpPr>
        <p:spPr/>
        <p:txBody>
          <a:bodyPr/>
          <a:lstStyle/>
          <a:p>
            <a:endParaRPr lang="es-ES"/>
          </a:p>
        </p:txBody>
      </p:sp>
      <p:sp>
        <p:nvSpPr>
          <p:cNvPr id="9" name="Marcador de número de diapositiva 8"/>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p>
        </p:txBody>
      </p:sp>
      <p:sp>
        <p:nvSpPr>
          <p:cNvPr id="3" name="Marcador de fecha 2"/>
          <p:cNvSpPr>
            <a:spLocks noGrp="1"/>
          </p:cNvSpPr>
          <p:nvPr>
            <p:ph type="dt" sz="half" idx="10"/>
          </p:nvPr>
        </p:nvSpPr>
        <p:spPr/>
        <p:txBody>
          <a:bodyPr/>
          <a:lstStyle/>
          <a:p>
            <a:fld id="{6FEB4CCE-9E5C-4D7B-92E4-7FB210B21D7A}" type="datetimeFigureOut">
              <a:rPr lang="es-ES" smtClean="0"/>
              <a:t>19/01/2026</a:t>
            </a:fld>
            <a:endParaRPr lang="es-ES"/>
          </a:p>
        </p:txBody>
      </p:sp>
      <p:sp>
        <p:nvSpPr>
          <p:cNvPr id="4" name="Marcador de pie de página 3"/>
          <p:cNvSpPr>
            <a:spLocks noGrp="1"/>
          </p:cNvSpPr>
          <p:nvPr>
            <p:ph type="ftr" sz="quarter" idx="11"/>
          </p:nvPr>
        </p:nvSpPr>
        <p:spPr/>
        <p:txBody>
          <a:bodyPr/>
          <a:lstStyle/>
          <a:p>
            <a:endParaRPr lang="es-ES"/>
          </a:p>
        </p:txBody>
      </p:sp>
      <p:sp>
        <p:nvSpPr>
          <p:cNvPr id="5" name="Marcador de número de diapositiva 4"/>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p:cNvSpPr>
            <a:spLocks noGrp="1"/>
          </p:cNvSpPr>
          <p:nvPr>
            <p:ph type="dt" sz="half" idx="10"/>
          </p:nvPr>
        </p:nvSpPr>
        <p:spPr/>
        <p:txBody>
          <a:bodyPr/>
          <a:lstStyle/>
          <a:p>
            <a:fld id="{6FEB4CCE-9E5C-4D7B-92E4-7FB210B21D7A}" type="datetimeFigureOut">
              <a:rPr lang="es-ES" smtClean="0"/>
              <a:t>19/01/2026</a:t>
            </a:fld>
            <a:endParaRPr lang="es-ES"/>
          </a:p>
        </p:txBody>
      </p:sp>
      <p:sp>
        <p:nvSpPr>
          <p:cNvPr id="3" name="Marcador de pie de página 2"/>
          <p:cNvSpPr>
            <a:spLocks noGrp="1"/>
          </p:cNvSpPr>
          <p:nvPr>
            <p:ph type="ftr" sz="quarter" idx="11"/>
          </p:nvPr>
        </p:nvSpPr>
        <p:spPr/>
        <p:txBody>
          <a:bodyPr/>
          <a:lstStyle/>
          <a:p>
            <a:endParaRPr lang="es-ES"/>
          </a:p>
        </p:txBody>
      </p:sp>
      <p:sp>
        <p:nvSpPr>
          <p:cNvPr id="4" name="Marcador de número de diapositiva 3"/>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p:cNvSpPr>
            <a:spLocks noGrp="1"/>
          </p:cNvSpPr>
          <p:nvPr>
            <p:ph idx="1" hasCustomPrompt="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p:cNvSpPr>
            <a:spLocks noGrp="1"/>
          </p:cNvSpPr>
          <p:nvPr>
            <p:ph type="body" sz="half" idx="2" hasCustomPrompt="1"/>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p:cNvSpPr>
            <a:spLocks noGrp="1"/>
          </p:cNvSpPr>
          <p:nvPr>
            <p:ph type="dt" sz="half" idx="10"/>
          </p:nvPr>
        </p:nvSpPr>
        <p:spPr/>
        <p:txBody>
          <a:bodyPr/>
          <a:lstStyle/>
          <a:p>
            <a:fld id="{6FEB4CCE-9E5C-4D7B-92E4-7FB210B21D7A}" type="datetimeFigureOut">
              <a:rPr lang="es-ES" smtClean="0"/>
              <a:t>19/01/2026</a:t>
            </a:fld>
            <a:endParaRPr lang="es-ES"/>
          </a:p>
        </p:txBody>
      </p:sp>
      <p:sp>
        <p:nvSpPr>
          <p:cNvPr id="6" name="Marcador de pie de página 5"/>
          <p:cNvSpPr>
            <a:spLocks noGrp="1"/>
          </p:cNvSpPr>
          <p:nvPr>
            <p:ph type="ftr" sz="quarter" idx="11"/>
          </p:nvPr>
        </p:nvSpPr>
        <p:spPr/>
        <p:txBody>
          <a:bodyPr/>
          <a:lstStyle/>
          <a:p>
            <a:endParaRPr lang="es-ES"/>
          </a:p>
        </p:txBody>
      </p:sp>
      <p:sp>
        <p:nvSpPr>
          <p:cNvPr id="7" name="Marcador de número de diapositiva 6"/>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p:cNvSpPr>
            <a:spLocks noGrp="1"/>
          </p:cNvSpPr>
          <p:nvPr>
            <p:ph type="body" sz="half" idx="2" hasCustomPrompt="1"/>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p:cNvSpPr>
            <a:spLocks noGrp="1"/>
          </p:cNvSpPr>
          <p:nvPr>
            <p:ph type="dt" sz="half" idx="10"/>
          </p:nvPr>
        </p:nvSpPr>
        <p:spPr/>
        <p:txBody>
          <a:bodyPr/>
          <a:lstStyle/>
          <a:p>
            <a:fld id="{6FEB4CCE-9E5C-4D7B-92E4-7FB210B21D7A}" type="datetimeFigureOut">
              <a:rPr lang="es-ES" smtClean="0"/>
              <a:t>19/01/2026</a:t>
            </a:fld>
            <a:endParaRPr lang="es-ES"/>
          </a:p>
        </p:txBody>
      </p:sp>
      <p:sp>
        <p:nvSpPr>
          <p:cNvPr id="6" name="Marcador de pie de página 5"/>
          <p:cNvSpPr>
            <a:spLocks noGrp="1"/>
          </p:cNvSpPr>
          <p:nvPr>
            <p:ph type="ftr" sz="quarter" idx="11"/>
          </p:nvPr>
        </p:nvSpPr>
        <p:spPr/>
        <p:txBody>
          <a:bodyPr/>
          <a:lstStyle/>
          <a:p>
            <a:endParaRPr lang="es-ES"/>
          </a:p>
        </p:txBody>
      </p:sp>
      <p:sp>
        <p:nvSpPr>
          <p:cNvPr id="7" name="Marcador de número de diapositiva 6"/>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p>
        </p:txBody>
      </p:sp>
      <p:sp>
        <p:nvSpPr>
          <p:cNvPr id="3" name="Marcador de texto vertical 2"/>
          <p:cNvSpPr>
            <a:spLocks noGrp="1"/>
          </p:cNvSpPr>
          <p:nvPr>
            <p:ph type="body" orient="vert" idx="1" hasCustomPrompt="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p:cNvSpPr>
            <a:spLocks noGrp="1"/>
          </p:cNvSpPr>
          <p:nvPr>
            <p:ph type="dt" sz="half" idx="10"/>
          </p:nvPr>
        </p:nvSpPr>
        <p:spPr/>
        <p:txBody>
          <a:bodyPr/>
          <a:lstStyle/>
          <a:p>
            <a:fld id="{6FEB4CCE-9E5C-4D7B-92E4-7FB210B21D7A}" type="datetimeFigureOut">
              <a:rPr lang="es-ES" smtClean="0"/>
              <a:t>19/01/2026</a:t>
            </a:fld>
            <a:endParaRPr lang="es-ES"/>
          </a:p>
        </p:txBody>
      </p:sp>
      <p:sp>
        <p:nvSpPr>
          <p:cNvPr id="5" name="Marcador de pie de página 4"/>
          <p:cNvSpPr>
            <a:spLocks noGrp="1"/>
          </p:cNvSpPr>
          <p:nvPr>
            <p:ph type="ftr" sz="quarter" idx="11"/>
          </p:nvPr>
        </p:nvSpPr>
        <p:spPr/>
        <p:txBody>
          <a:bodyPr/>
          <a:lstStyle/>
          <a:p>
            <a:endParaRPr lang="es-ES"/>
          </a:p>
        </p:txBody>
      </p:sp>
      <p:sp>
        <p:nvSpPr>
          <p:cNvPr id="6" name="Marcador de número de diapositiva 5"/>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p:cNvSpPr>
            <a:spLocks noGrp="1"/>
          </p:cNvSpPr>
          <p:nvPr>
            <p:ph type="body" orient="vert" idx="1" hasCustomPrompt="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p:cNvSpPr>
            <a:spLocks noGrp="1"/>
          </p:cNvSpPr>
          <p:nvPr>
            <p:ph type="dt" sz="half" idx="10"/>
          </p:nvPr>
        </p:nvSpPr>
        <p:spPr/>
        <p:txBody>
          <a:bodyPr/>
          <a:lstStyle/>
          <a:p>
            <a:fld id="{6FEB4CCE-9E5C-4D7B-92E4-7FB210B21D7A}" type="datetimeFigureOut">
              <a:rPr lang="es-ES" smtClean="0"/>
              <a:t>19/01/2026</a:t>
            </a:fld>
            <a:endParaRPr lang="es-ES"/>
          </a:p>
        </p:txBody>
      </p:sp>
      <p:sp>
        <p:nvSpPr>
          <p:cNvPr id="5" name="Marcador de pie de página 4"/>
          <p:cNvSpPr>
            <a:spLocks noGrp="1"/>
          </p:cNvSpPr>
          <p:nvPr>
            <p:ph type="ftr" sz="quarter" idx="11"/>
          </p:nvPr>
        </p:nvSpPr>
        <p:spPr/>
        <p:txBody>
          <a:bodyPr/>
          <a:lstStyle/>
          <a:p>
            <a:endParaRPr lang="es-ES"/>
          </a:p>
        </p:txBody>
      </p:sp>
      <p:sp>
        <p:nvSpPr>
          <p:cNvPr id="6" name="Marcador de número de diapositiva 5"/>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FEB4CCE-9E5C-4D7B-92E4-7FB210B21D7A}" type="datetimeFigureOut">
              <a:rPr lang="es-ES" smtClean="0"/>
              <a:t>19/01/2026</a:t>
            </a:fld>
            <a:endParaRPr lang="es-ES"/>
          </a:p>
        </p:txBody>
      </p:sp>
      <p:sp>
        <p:nvSpPr>
          <p:cNvPr id="5" name="Marcador de pie de página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ES"/>
          </a:p>
        </p:txBody>
      </p:sp>
      <p:sp>
        <p:nvSpPr>
          <p:cNvPr id="6" name="Marcador de número de diapositiva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C54D487-8D63-415A-B3B9-DEFE2730CE83}" type="slidenum">
              <a:rPr lang="es-ES" smtClean="0"/>
              <a:t>‹Nº›</a:t>
            </a:fld>
            <a:endParaRPr lang="es-E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18" Type="http://schemas.openxmlformats.org/officeDocument/2006/relationships/image" Target="../media/image17.pn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16.svg"/><Relationship Id="rId2" Type="http://schemas.openxmlformats.org/officeDocument/2006/relationships/image" Target="../media/image1.png"/><Relationship Id="rId16" Type="http://schemas.openxmlformats.org/officeDocument/2006/relationships/image" Target="../media/image15.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10" Type="http://schemas.openxmlformats.org/officeDocument/2006/relationships/image" Target="../media/image9.png"/><Relationship Id="rId19" Type="http://schemas.openxmlformats.org/officeDocument/2006/relationships/image" Target="../media/image18.sv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s>
</file>

<file path=ppt/slides/_rels/slide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esquinas redondeadas 12"/>
          <p:cNvSpPr/>
          <p:nvPr/>
        </p:nvSpPr>
        <p:spPr>
          <a:xfrm>
            <a:off x="9413160" y="695848"/>
            <a:ext cx="2538998" cy="2733152"/>
          </a:xfrm>
          <a:prstGeom prst="round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Rectángulo: esquinas redondeadas 11"/>
          <p:cNvSpPr/>
          <p:nvPr/>
        </p:nvSpPr>
        <p:spPr>
          <a:xfrm>
            <a:off x="6695205" y="695848"/>
            <a:ext cx="2538998" cy="2733152"/>
          </a:xfrm>
          <a:prstGeom prst="round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Rectángulo: esquinas redondeadas 10"/>
          <p:cNvSpPr/>
          <p:nvPr/>
        </p:nvSpPr>
        <p:spPr>
          <a:xfrm>
            <a:off x="3915871" y="695848"/>
            <a:ext cx="2538998" cy="2733152"/>
          </a:xfrm>
          <a:prstGeom prst="round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Rectángulo 4"/>
          <p:cNvSpPr/>
          <p:nvPr/>
        </p:nvSpPr>
        <p:spPr>
          <a:xfrm>
            <a:off x="-3636" y="0"/>
            <a:ext cx="3692703" cy="685800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CuadroTexto 3"/>
          <p:cNvSpPr txBox="1"/>
          <p:nvPr/>
        </p:nvSpPr>
        <p:spPr>
          <a:xfrm>
            <a:off x="0" y="397973"/>
            <a:ext cx="3730456" cy="2554545"/>
          </a:xfrm>
          <a:prstGeom prst="rect">
            <a:avLst/>
          </a:prstGeom>
          <a:noFill/>
        </p:spPr>
        <p:txBody>
          <a:bodyPr wrap="square" rtlCol="0">
            <a:spAutoFit/>
          </a:bodyPr>
          <a:lstStyle/>
          <a:p>
            <a:pPr algn="ctr"/>
            <a:r>
              <a:rPr lang="en-US" sz="3200" dirty="0">
                <a:solidFill>
                  <a:schemeClr val="bg1"/>
                </a:solidFill>
                <a:latin typeface="Arial Black" panose="020B0A04020102020204" pitchFamily="34" charset="0"/>
              </a:rPr>
              <a:t>An</a:t>
            </a:r>
            <a:r>
              <a:rPr lang="es-ES" sz="3200" dirty="0">
                <a:solidFill>
                  <a:schemeClr val="bg1"/>
                </a:solidFill>
                <a:latin typeface="Arial Black" panose="020B0A04020102020204" pitchFamily="34" charset="0"/>
              </a:rPr>
              <a:t>álisis</a:t>
            </a:r>
            <a:r>
              <a:rPr lang="en-US" sz="3200" dirty="0">
                <a:solidFill>
                  <a:schemeClr val="bg1"/>
                </a:solidFill>
                <a:latin typeface="Arial Black" panose="020B0A04020102020204" pitchFamily="34" charset="0"/>
              </a:rPr>
              <a:t> Estadístico de </a:t>
            </a:r>
            <a:r>
              <a:rPr lang="es-ES" sz="3200" dirty="0">
                <a:solidFill>
                  <a:schemeClr val="bg1"/>
                </a:solidFill>
                <a:latin typeface="Arial Black" panose="020B0A04020102020204" pitchFamily="34" charset="0"/>
              </a:rPr>
              <a:t>Accidentes</a:t>
            </a:r>
            <a:r>
              <a:rPr lang="en-US" sz="3200" dirty="0">
                <a:solidFill>
                  <a:schemeClr val="bg1"/>
                </a:solidFill>
                <a:latin typeface="Arial Black" panose="020B0A04020102020204" pitchFamily="34" charset="0"/>
              </a:rPr>
              <a:t> </a:t>
            </a:r>
          </a:p>
          <a:p>
            <a:pPr algn="ctr"/>
            <a:r>
              <a:rPr lang="en-US" sz="3200" dirty="0">
                <a:solidFill>
                  <a:schemeClr val="bg1"/>
                </a:solidFill>
                <a:latin typeface="Arial Black" panose="020B0A04020102020204" pitchFamily="34" charset="0"/>
              </a:rPr>
              <a:t>de </a:t>
            </a:r>
            <a:r>
              <a:rPr lang="es-ES" sz="3200" dirty="0">
                <a:solidFill>
                  <a:schemeClr val="bg1"/>
                </a:solidFill>
                <a:latin typeface="Arial Black" panose="020B0A04020102020204" pitchFamily="34" charset="0"/>
              </a:rPr>
              <a:t>Tráfico</a:t>
            </a:r>
            <a:r>
              <a:rPr lang="en-US" sz="3200" dirty="0">
                <a:solidFill>
                  <a:schemeClr val="bg1"/>
                </a:solidFill>
                <a:latin typeface="Arial Black" panose="020B0A04020102020204" pitchFamily="34" charset="0"/>
              </a:rPr>
              <a:t> en Estados Unidos</a:t>
            </a:r>
            <a:endParaRPr lang="es-ES" sz="3200" dirty="0">
              <a:solidFill>
                <a:schemeClr val="bg1"/>
              </a:solidFill>
              <a:latin typeface="Arial Black" panose="020B0A04020102020204" pitchFamily="34" charset="0"/>
            </a:endParaRPr>
          </a:p>
        </p:txBody>
      </p:sp>
      <p:sp>
        <p:nvSpPr>
          <p:cNvPr id="6" name="CuadroTexto 5"/>
          <p:cNvSpPr txBox="1"/>
          <p:nvPr/>
        </p:nvSpPr>
        <p:spPr>
          <a:xfrm>
            <a:off x="229955" y="4521035"/>
            <a:ext cx="3225520" cy="1938992"/>
          </a:xfrm>
          <a:prstGeom prst="rect">
            <a:avLst/>
          </a:prstGeom>
          <a:noFill/>
        </p:spPr>
        <p:txBody>
          <a:bodyPr wrap="square" rtlCol="0">
            <a:spAutoFit/>
          </a:bodyPr>
          <a:lstStyle/>
          <a:p>
            <a:pPr algn="ctr"/>
            <a:r>
              <a:rPr lang="es-ES" sz="2000" dirty="0">
                <a:solidFill>
                  <a:schemeClr val="bg1"/>
                </a:solidFill>
                <a:latin typeface="Arial Black" panose="020B0A04020102020204" pitchFamily="34" charset="0"/>
              </a:rPr>
              <a:t>Enero 2026</a:t>
            </a:r>
          </a:p>
          <a:p>
            <a:pPr algn="ctr"/>
            <a:endParaRPr lang="es-ES" sz="2000" dirty="0">
              <a:solidFill>
                <a:schemeClr val="bg1"/>
              </a:solidFill>
              <a:latin typeface="Arial Black" panose="020B0A04020102020204" pitchFamily="34" charset="0"/>
            </a:endParaRPr>
          </a:p>
          <a:p>
            <a:pPr algn="ctr"/>
            <a:r>
              <a:rPr lang="es-ES" sz="2000" dirty="0">
                <a:solidFill>
                  <a:schemeClr val="bg1"/>
                </a:solidFill>
                <a:latin typeface="Arial Black" panose="020B0A04020102020204" pitchFamily="34" charset="0"/>
              </a:rPr>
              <a:t>Kelen Alfaro García            Adriana Boué García       Carlos Mazorra Matos</a:t>
            </a:r>
          </a:p>
          <a:p>
            <a:pPr algn="ctr"/>
            <a:endParaRPr lang="es-ES" sz="2000" dirty="0">
              <a:solidFill>
                <a:schemeClr val="bg1"/>
              </a:solidFill>
              <a:latin typeface="Arial Black" panose="020B0A04020102020204" pitchFamily="34" charset="0"/>
            </a:endParaRPr>
          </a:p>
        </p:txBody>
      </p:sp>
      <p:sp>
        <p:nvSpPr>
          <p:cNvPr id="7" name="CuadroTexto 6"/>
          <p:cNvSpPr txBox="1"/>
          <p:nvPr/>
        </p:nvSpPr>
        <p:spPr>
          <a:xfrm>
            <a:off x="5185370" y="136363"/>
            <a:ext cx="5968811" cy="523220"/>
          </a:xfrm>
          <a:prstGeom prst="rect">
            <a:avLst/>
          </a:prstGeom>
          <a:noFill/>
        </p:spPr>
        <p:txBody>
          <a:bodyPr wrap="square" rtlCol="0">
            <a:spAutoFit/>
          </a:bodyPr>
          <a:lstStyle/>
          <a:p>
            <a:r>
              <a:rPr lang="es-ES" sz="2800" b="0" dirty="0">
                <a:solidFill>
                  <a:schemeClr val="tx1">
                    <a:lumMod val="85000"/>
                    <a:lumOff val="15000"/>
                  </a:schemeClr>
                </a:solidFill>
                <a:effectLst/>
                <a:latin typeface="Arial Black" panose="020B0A04020102020204" pitchFamily="34" charset="0"/>
              </a:rPr>
              <a:t>Preguntas de Investigación</a:t>
            </a:r>
          </a:p>
        </p:txBody>
      </p:sp>
      <p:sp>
        <p:nvSpPr>
          <p:cNvPr id="8" name="CuadroTexto 7"/>
          <p:cNvSpPr txBox="1"/>
          <p:nvPr/>
        </p:nvSpPr>
        <p:spPr>
          <a:xfrm>
            <a:off x="3945298" y="905302"/>
            <a:ext cx="2485648" cy="2308324"/>
          </a:xfrm>
          <a:prstGeom prst="rect">
            <a:avLst/>
          </a:prstGeom>
          <a:noFill/>
        </p:spPr>
        <p:txBody>
          <a:bodyPr wrap="square" rtlCol="0">
            <a:spAutoFit/>
          </a:bodyPr>
          <a:lstStyle/>
          <a:p>
            <a:pPr algn="ctr"/>
            <a:r>
              <a:rPr lang="es-ES" dirty="0">
                <a:solidFill>
                  <a:schemeClr val="bg1"/>
                </a:solidFill>
                <a:effectLst/>
                <a:latin typeface="Arial Black" panose="020B0A04020102020204" pitchFamily="34" charset="0"/>
              </a:rPr>
              <a:t>¿Qué factores ambientales y temporales están más fuertemente asociados con la severidad de los accidentes de tráfico?</a:t>
            </a:r>
          </a:p>
        </p:txBody>
      </p:sp>
      <p:sp>
        <p:nvSpPr>
          <p:cNvPr id="9" name="CuadroTexto 8"/>
          <p:cNvSpPr txBox="1"/>
          <p:nvPr/>
        </p:nvSpPr>
        <p:spPr>
          <a:xfrm>
            <a:off x="6721880" y="905302"/>
            <a:ext cx="2485647" cy="2308324"/>
          </a:xfrm>
          <a:prstGeom prst="rect">
            <a:avLst/>
          </a:prstGeom>
          <a:noFill/>
        </p:spPr>
        <p:txBody>
          <a:bodyPr wrap="square" rtlCol="0">
            <a:spAutoFit/>
          </a:bodyPr>
          <a:lstStyle/>
          <a:p>
            <a:pPr algn="ctr"/>
            <a:r>
              <a:rPr lang="es-ES" b="1" dirty="0">
                <a:solidFill>
                  <a:schemeClr val="bg1"/>
                </a:solidFill>
                <a:effectLst/>
                <a:latin typeface="Arial Black" panose="020B0A04020102020204" pitchFamily="34" charset="0"/>
              </a:rPr>
              <a:t>¿Existen patrones temporales significativos en la ocurrencia de accidentes (hora del día, día de la semana, estacionalidad)?</a:t>
            </a:r>
            <a:endParaRPr lang="es-ES" b="0" dirty="0">
              <a:solidFill>
                <a:schemeClr val="bg1"/>
              </a:solidFill>
              <a:effectLst/>
              <a:latin typeface="Arial Black" panose="020B0A04020102020204" pitchFamily="34" charset="0"/>
            </a:endParaRPr>
          </a:p>
        </p:txBody>
      </p:sp>
      <p:sp>
        <p:nvSpPr>
          <p:cNvPr id="10" name="CuadroTexto 9"/>
          <p:cNvSpPr txBox="1"/>
          <p:nvPr/>
        </p:nvSpPr>
        <p:spPr>
          <a:xfrm>
            <a:off x="9325261" y="905302"/>
            <a:ext cx="2714796" cy="2308324"/>
          </a:xfrm>
          <a:prstGeom prst="rect">
            <a:avLst/>
          </a:prstGeom>
          <a:noFill/>
        </p:spPr>
        <p:txBody>
          <a:bodyPr wrap="square" rtlCol="0">
            <a:spAutoFit/>
          </a:bodyPr>
          <a:lstStyle/>
          <a:p>
            <a:pPr algn="ctr"/>
            <a:r>
              <a:rPr lang="es-ES" b="1" dirty="0">
                <a:solidFill>
                  <a:schemeClr val="bg1"/>
                </a:solidFill>
                <a:effectLst/>
                <a:latin typeface="Arial Black" panose="020B0A04020102020204" pitchFamily="34" charset="0"/>
              </a:rPr>
              <a:t>¿Cómo varían las características de los accidentes entre diferentes estados y condiciones climáticas?</a:t>
            </a:r>
            <a:endParaRPr lang="es-ES" b="0" dirty="0">
              <a:solidFill>
                <a:schemeClr val="bg1"/>
              </a:solidFill>
              <a:effectLst/>
              <a:latin typeface="Arial Black" panose="020B0A04020102020204" pitchFamily="34" charset="0"/>
            </a:endParaRPr>
          </a:p>
          <a:p>
            <a:pPr algn="ctr"/>
            <a:endParaRPr lang="es-ES" dirty="0">
              <a:solidFill>
                <a:schemeClr val="bg1"/>
              </a:solidFill>
              <a:effectLst/>
              <a:latin typeface="Arial Black" panose="020B0A04020102020204" pitchFamily="34" charset="0"/>
            </a:endParaRPr>
          </a:p>
        </p:txBody>
      </p:sp>
      <p:sp>
        <p:nvSpPr>
          <p:cNvPr id="14" name="CuadroTexto 13"/>
          <p:cNvSpPr txBox="1"/>
          <p:nvPr/>
        </p:nvSpPr>
        <p:spPr>
          <a:xfrm>
            <a:off x="4432161" y="3829139"/>
            <a:ext cx="7065083" cy="523220"/>
          </a:xfrm>
          <a:prstGeom prst="rect">
            <a:avLst/>
          </a:prstGeom>
          <a:noFill/>
        </p:spPr>
        <p:txBody>
          <a:bodyPr wrap="square" rtlCol="0">
            <a:spAutoFit/>
          </a:bodyPr>
          <a:lstStyle/>
          <a:p>
            <a:pPr algn="ctr"/>
            <a:r>
              <a:rPr lang="es-ES" sz="2800" dirty="0">
                <a:solidFill>
                  <a:schemeClr val="tx1">
                    <a:lumMod val="85000"/>
                    <a:lumOff val="15000"/>
                  </a:schemeClr>
                </a:solidFill>
                <a:latin typeface="Arial Black" panose="020B0A04020102020204" pitchFamily="34" charset="0"/>
              </a:rPr>
              <a:t>Principales Variables</a:t>
            </a:r>
          </a:p>
        </p:txBody>
      </p:sp>
      <p:sp>
        <p:nvSpPr>
          <p:cNvPr id="16" name="CuadroTexto 15"/>
          <p:cNvSpPr txBox="1"/>
          <p:nvPr/>
        </p:nvSpPr>
        <p:spPr>
          <a:xfrm>
            <a:off x="4770112" y="4906132"/>
            <a:ext cx="1684757" cy="464743"/>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pPr>
            <a:r>
              <a:rPr kumimoji="0" lang="es-ES" altLang="es-ES" sz="1800" b="1" i="0" u="none" strike="noStrike" cap="none" normalizeH="0" baseline="0" dirty="0">
                <a:ln>
                  <a:noFill/>
                </a:ln>
                <a:solidFill>
                  <a:schemeClr val="tx1">
                    <a:lumMod val="85000"/>
                    <a:lumOff val="15000"/>
                  </a:schemeClr>
                </a:solidFill>
                <a:effectLst/>
                <a:latin typeface="Arial Black" panose="020B0A04020102020204" pitchFamily="34" charset="0"/>
              </a:rPr>
              <a:t>Temporales</a:t>
            </a:r>
            <a:endParaRPr kumimoji="0" lang="es-ES" altLang="es-ES" sz="1800" b="0" i="0" u="none" strike="noStrike" cap="none" normalizeH="0" baseline="0" dirty="0">
              <a:ln>
                <a:noFill/>
              </a:ln>
              <a:solidFill>
                <a:schemeClr val="tx1">
                  <a:lumMod val="85000"/>
                  <a:lumOff val="15000"/>
                </a:schemeClr>
              </a:solidFill>
              <a:effectLst/>
              <a:latin typeface="Arial Black" panose="020B0A04020102020204" pitchFamily="34" charset="0"/>
            </a:endParaRPr>
          </a:p>
        </p:txBody>
      </p:sp>
      <p:sp>
        <p:nvSpPr>
          <p:cNvPr id="17" name="CuadroTexto 16"/>
          <p:cNvSpPr txBox="1"/>
          <p:nvPr/>
        </p:nvSpPr>
        <p:spPr>
          <a:xfrm>
            <a:off x="4783412" y="5342092"/>
            <a:ext cx="1671457" cy="464743"/>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pPr>
            <a:r>
              <a:rPr kumimoji="0" lang="es-ES" altLang="es-ES" sz="1800" b="1" i="0" u="none" strike="noStrike" cap="none" normalizeH="0" baseline="0" dirty="0">
                <a:ln>
                  <a:noFill/>
                </a:ln>
                <a:solidFill>
                  <a:schemeClr val="tx1">
                    <a:lumMod val="85000"/>
                    <a:lumOff val="15000"/>
                  </a:schemeClr>
                </a:solidFill>
                <a:effectLst/>
                <a:latin typeface="Arial Black" panose="020B0A04020102020204" pitchFamily="34" charset="0"/>
              </a:rPr>
              <a:t>Ubicación</a:t>
            </a:r>
            <a:endParaRPr kumimoji="0" lang="es-ES" altLang="es-ES" sz="1800" b="0" i="0" u="none" strike="noStrike" cap="none" normalizeH="0" baseline="0" dirty="0">
              <a:ln>
                <a:noFill/>
              </a:ln>
              <a:solidFill>
                <a:schemeClr val="tx1">
                  <a:lumMod val="85000"/>
                  <a:lumOff val="15000"/>
                </a:schemeClr>
              </a:solidFill>
              <a:effectLst/>
              <a:latin typeface="Arial Black" panose="020B0A04020102020204" pitchFamily="34" charset="0"/>
            </a:endParaRPr>
          </a:p>
        </p:txBody>
      </p:sp>
      <p:sp>
        <p:nvSpPr>
          <p:cNvPr id="18" name="CuadroTexto 17"/>
          <p:cNvSpPr txBox="1"/>
          <p:nvPr/>
        </p:nvSpPr>
        <p:spPr>
          <a:xfrm>
            <a:off x="4791631" y="5906569"/>
            <a:ext cx="1499115" cy="369332"/>
          </a:xfrm>
          <a:prstGeom prst="rect">
            <a:avLst/>
          </a:prstGeom>
          <a:noFill/>
        </p:spPr>
        <p:txBody>
          <a:bodyPr wrap="square" rtlCol="0">
            <a:spAutoFit/>
          </a:bodyPr>
          <a:lstStyle/>
          <a:p>
            <a:r>
              <a:rPr kumimoji="0" lang="es-ES" altLang="es-ES" sz="1800" b="1" i="0" u="none" strike="noStrike" cap="none" normalizeH="0" baseline="0" dirty="0">
                <a:ln>
                  <a:noFill/>
                </a:ln>
                <a:solidFill>
                  <a:schemeClr val="tx1">
                    <a:lumMod val="85000"/>
                    <a:lumOff val="15000"/>
                  </a:schemeClr>
                </a:solidFill>
                <a:effectLst/>
                <a:latin typeface="Arial Black" panose="020B0A04020102020204" pitchFamily="34" charset="0"/>
              </a:rPr>
              <a:t>Severidad </a:t>
            </a:r>
            <a:endParaRPr kumimoji="0" lang="es-ES" altLang="es-ES" sz="1800" b="0" i="0" u="none" strike="noStrike" cap="none" normalizeH="0" baseline="0" dirty="0">
              <a:ln>
                <a:noFill/>
              </a:ln>
              <a:solidFill>
                <a:schemeClr val="tx1">
                  <a:lumMod val="85000"/>
                  <a:lumOff val="15000"/>
                </a:schemeClr>
              </a:solidFill>
              <a:effectLst/>
              <a:latin typeface="Arial Black" panose="020B0A04020102020204" pitchFamily="34" charset="0"/>
            </a:endParaRPr>
          </a:p>
        </p:txBody>
      </p:sp>
      <p:sp>
        <p:nvSpPr>
          <p:cNvPr id="19" name="CuadroTexto 18"/>
          <p:cNvSpPr txBox="1"/>
          <p:nvPr/>
        </p:nvSpPr>
        <p:spPr>
          <a:xfrm>
            <a:off x="4783413" y="6265451"/>
            <a:ext cx="3113022" cy="464743"/>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pPr>
            <a:r>
              <a:rPr kumimoji="0" lang="es-ES" altLang="es-ES" sz="1800" b="1" i="0" u="none" strike="noStrike" cap="none" normalizeH="0" baseline="0" dirty="0">
                <a:ln>
                  <a:noFill/>
                </a:ln>
                <a:solidFill>
                  <a:schemeClr val="tx1">
                    <a:lumMod val="85000"/>
                    <a:lumOff val="15000"/>
                  </a:schemeClr>
                </a:solidFill>
                <a:effectLst/>
                <a:latin typeface="Arial Black" panose="020B0A04020102020204" pitchFamily="34" charset="0"/>
              </a:rPr>
              <a:t>Distancia y Visibilidad </a:t>
            </a:r>
            <a:endParaRPr kumimoji="0" lang="es-ES" altLang="es-ES" sz="1800" b="0" i="0" u="none" strike="noStrike" cap="none" normalizeH="0" baseline="0" dirty="0">
              <a:ln>
                <a:noFill/>
              </a:ln>
              <a:solidFill>
                <a:schemeClr val="tx1">
                  <a:lumMod val="85000"/>
                  <a:lumOff val="15000"/>
                </a:schemeClr>
              </a:solidFill>
              <a:effectLst/>
              <a:latin typeface="Arial Black" panose="020B0A04020102020204" pitchFamily="34" charset="0"/>
            </a:endParaRPr>
          </a:p>
        </p:txBody>
      </p:sp>
      <p:sp>
        <p:nvSpPr>
          <p:cNvPr id="20" name="CuadroTexto 19"/>
          <p:cNvSpPr txBox="1"/>
          <p:nvPr/>
        </p:nvSpPr>
        <p:spPr>
          <a:xfrm>
            <a:off x="4781170" y="4417403"/>
            <a:ext cx="1964689" cy="464743"/>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defRPr/>
            </a:pPr>
            <a:r>
              <a:rPr kumimoji="0" lang="es-ES" altLang="es-ES" b="1"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Identificación</a:t>
            </a:r>
            <a:r>
              <a:rPr kumimoji="0" lang="es-ES" altLang="es-ES"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 </a:t>
            </a:r>
          </a:p>
        </p:txBody>
      </p:sp>
      <p:pic>
        <p:nvPicPr>
          <p:cNvPr id="21" name="Gráfico 20" descr="Identificación de empleado con relleno sólido"/>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94359" y="4420627"/>
            <a:ext cx="464744" cy="464744"/>
          </a:xfrm>
          <a:prstGeom prst="rect">
            <a:avLst/>
          </a:prstGeom>
        </p:spPr>
      </p:pic>
      <p:pic>
        <p:nvPicPr>
          <p:cNvPr id="22" name="Gráfico 21" descr="Calendario con relleno sólido"/>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173701" y="4904740"/>
            <a:ext cx="517236" cy="437352"/>
          </a:xfrm>
          <a:prstGeom prst="rect">
            <a:avLst/>
          </a:prstGeom>
        </p:spPr>
      </p:pic>
      <p:pic>
        <p:nvPicPr>
          <p:cNvPr id="23" name="Gráfico 22" descr="Visión baja con relleno sólido"/>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4168401" y="6265451"/>
            <a:ext cx="516659" cy="516659"/>
          </a:xfrm>
          <a:prstGeom prst="rect">
            <a:avLst/>
          </a:prstGeom>
        </p:spPr>
      </p:pic>
      <p:pic>
        <p:nvPicPr>
          <p:cNvPr id="24" name="Gráfico 23" descr="Marcador con relleno sólido"/>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4117404" y="5371046"/>
            <a:ext cx="646149" cy="465344"/>
          </a:xfrm>
          <a:prstGeom prst="rect">
            <a:avLst/>
          </a:prstGeom>
        </p:spPr>
      </p:pic>
      <p:pic>
        <p:nvPicPr>
          <p:cNvPr id="25" name="Gráfico 24" descr="Cráneo con relleno sólido"/>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4168401" y="5813000"/>
            <a:ext cx="516659" cy="452451"/>
          </a:xfrm>
          <a:prstGeom prst="rect">
            <a:avLst/>
          </a:prstGeom>
        </p:spPr>
      </p:pic>
      <p:pic>
        <p:nvPicPr>
          <p:cNvPr id="26" name="Gráfico 25" descr="Nube con relleno sólido"/>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8059409" y="4376442"/>
            <a:ext cx="546664" cy="546664"/>
          </a:xfrm>
          <a:prstGeom prst="rect">
            <a:avLst/>
          </a:prstGeom>
        </p:spPr>
      </p:pic>
      <p:pic>
        <p:nvPicPr>
          <p:cNvPr id="27" name="Gráfico 26" descr="Portapapeles con relleno sólido"/>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8113360" y="5865475"/>
            <a:ext cx="473267" cy="416818"/>
          </a:xfrm>
          <a:prstGeom prst="rect">
            <a:avLst/>
          </a:prstGeom>
        </p:spPr>
      </p:pic>
      <p:pic>
        <p:nvPicPr>
          <p:cNvPr id="28" name="Gráfico 27" descr="Señal de negación con relleno sólido"/>
          <p:cNvPicPr>
            <a:picLocks noChangeAspect="1"/>
          </p:cNvPicPr>
          <p:nvPr/>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8126112" y="4903201"/>
            <a:ext cx="399867" cy="399867"/>
          </a:xfrm>
          <a:prstGeom prst="rect">
            <a:avLst/>
          </a:prstGeom>
        </p:spPr>
      </p:pic>
      <p:pic>
        <p:nvPicPr>
          <p:cNvPr id="29" name="Gráfico 28" descr="Do con relleno sólido"/>
          <p:cNvPicPr>
            <a:picLocks noChangeAspect="1"/>
          </p:cNvPicPr>
          <p:nvPr/>
        </p:nvPicPr>
        <p:blipFill>
          <a:blip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8096107" y="5347638"/>
            <a:ext cx="473267" cy="473267"/>
          </a:xfrm>
          <a:prstGeom prst="rect">
            <a:avLst/>
          </a:prstGeom>
        </p:spPr>
      </p:pic>
      <p:sp>
        <p:nvSpPr>
          <p:cNvPr id="30" name="Rectangle 1"/>
          <p:cNvSpPr>
            <a:spLocks noChangeArrowheads="1"/>
          </p:cNvSpPr>
          <p:nvPr/>
        </p:nvSpPr>
        <p:spPr bwMode="auto">
          <a:xfrm rot="10800000" flipV="1">
            <a:off x="8732446" y="5800708"/>
            <a:ext cx="3202825" cy="4647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p>
            <a:pPr marL="0" marR="0" lvl="0" indent="0" algn="l" defTabSz="914400" rtl="0" eaLnBrk="0" fontAlgn="base" latinLnBrk="0" hangingPunct="0">
              <a:lnSpc>
                <a:spcPct val="150000"/>
              </a:lnSpc>
              <a:spcBef>
                <a:spcPct val="0"/>
              </a:spcBef>
              <a:spcAft>
                <a:spcPct val="0"/>
              </a:spcAft>
              <a:buClrTx/>
              <a:buSzTx/>
            </a:pPr>
            <a:r>
              <a:rPr kumimoji="0" lang="es-ES" altLang="es-ES" b="1" i="0" u="none" strike="noStrike" cap="none" normalizeH="0" baseline="0" dirty="0">
                <a:ln>
                  <a:noFill/>
                </a:ln>
                <a:solidFill>
                  <a:schemeClr val="tx1">
                    <a:lumMod val="85000"/>
                    <a:lumOff val="15000"/>
                  </a:schemeClr>
                </a:solidFill>
                <a:effectLst/>
                <a:latin typeface="Arial Black" panose="020B0A04020102020204" pitchFamily="34" charset="0"/>
              </a:rPr>
              <a:t>Descripción</a:t>
            </a:r>
            <a:r>
              <a:rPr kumimoji="0" lang="es-ES" altLang="es-ES" b="0" i="0" u="none" strike="noStrike" cap="none" normalizeH="0" baseline="0" dirty="0">
                <a:ln>
                  <a:noFill/>
                </a:ln>
                <a:solidFill>
                  <a:schemeClr val="tx1">
                    <a:lumMod val="85000"/>
                    <a:lumOff val="15000"/>
                  </a:schemeClr>
                </a:solidFill>
                <a:effectLst/>
                <a:latin typeface="Arial Black" panose="020B0A04020102020204" pitchFamily="34" charset="0"/>
              </a:rPr>
              <a:t> </a:t>
            </a:r>
          </a:p>
        </p:txBody>
      </p:sp>
      <p:sp>
        <p:nvSpPr>
          <p:cNvPr id="31" name="CuadroTexto 30"/>
          <p:cNvSpPr txBox="1"/>
          <p:nvPr/>
        </p:nvSpPr>
        <p:spPr>
          <a:xfrm>
            <a:off x="8732445" y="4417403"/>
            <a:ext cx="3202826" cy="464743"/>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pPr>
            <a:r>
              <a:rPr kumimoji="0" lang="es-ES" altLang="es-ES" sz="1800" b="1" i="0" u="none" strike="noStrike" cap="none" normalizeH="0" baseline="0" dirty="0">
                <a:ln>
                  <a:noFill/>
                </a:ln>
                <a:solidFill>
                  <a:schemeClr val="tx1">
                    <a:lumMod val="85000"/>
                    <a:lumOff val="15000"/>
                  </a:schemeClr>
                </a:solidFill>
                <a:effectLst/>
                <a:latin typeface="Arial Black" panose="020B0A04020102020204" pitchFamily="34" charset="0"/>
              </a:rPr>
              <a:t>Clima</a:t>
            </a:r>
            <a:r>
              <a:rPr kumimoji="0" lang="es-ES" altLang="es-ES" sz="1800" b="0" i="0" u="none" strike="noStrike" cap="none" normalizeH="0" baseline="0" dirty="0">
                <a:ln>
                  <a:noFill/>
                </a:ln>
                <a:solidFill>
                  <a:schemeClr val="tx1">
                    <a:lumMod val="85000"/>
                    <a:lumOff val="15000"/>
                  </a:schemeClr>
                </a:solidFill>
                <a:effectLst/>
                <a:latin typeface="Arial Black" panose="020B0A04020102020204" pitchFamily="34" charset="0"/>
              </a:rPr>
              <a:t> </a:t>
            </a:r>
          </a:p>
        </p:txBody>
      </p:sp>
      <p:sp>
        <p:nvSpPr>
          <p:cNvPr id="32" name="CuadroTexto 31"/>
          <p:cNvSpPr txBox="1"/>
          <p:nvPr/>
        </p:nvSpPr>
        <p:spPr>
          <a:xfrm>
            <a:off x="8732445" y="4972095"/>
            <a:ext cx="2749882" cy="369332"/>
          </a:xfrm>
          <a:prstGeom prst="rect">
            <a:avLst/>
          </a:prstGeom>
          <a:noFill/>
        </p:spPr>
        <p:txBody>
          <a:bodyPr wrap="square" rtlCol="0">
            <a:spAutoFit/>
          </a:bodyPr>
          <a:lstStyle/>
          <a:p>
            <a:r>
              <a:rPr kumimoji="0" lang="es-ES" altLang="es-ES" sz="1800" b="1" i="0" u="none" strike="noStrike" cap="none" normalizeH="0" baseline="0" dirty="0">
                <a:ln>
                  <a:noFill/>
                </a:ln>
                <a:solidFill>
                  <a:schemeClr val="tx1">
                    <a:lumMod val="85000"/>
                    <a:lumOff val="15000"/>
                  </a:schemeClr>
                </a:solidFill>
                <a:effectLst/>
                <a:latin typeface="Arial Black" panose="020B0A04020102020204" pitchFamily="34" charset="0"/>
              </a:rPr>
              <a:t>Infraestructura Vial </a:t>
            </a:r>
            <a:endParaRPr lang="es-ES" dirty="0">
              <a:solidFill>
                <a:schemeClr val="tx1">
                  <a:lumMod val="85000"/>
                  <a:lumOff val="15000"/>
                </a:schemeClr>
              </a:solidFill>
            </a:endParaRPr>
          </a:p>
        </p:txBody>
      </p:sp>
      <p:sp>
        <p:nvSpPr>
          <p:cNvPr id="33" name="CuadroTexto 32"/>
          <p:cNvSpPr txBox="1"/>
          <p:nvPr/>
        </p:nvSpPr>
        <p:spPr>
          <a:xfrm>
            <a:off x="8710523" y="5353407"/>
            <a:ext cx="2106277" cy="464743"/>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pPr>
            <a:r>
              <a:rPr kumimoji="0" lang="es-ES" altLang="es-ES" sz="1800" b="1" i="0" u="none" strike="noStrike" cap="none" normalizeH="0" baseline="0" dirty="0">
                <a:ln>
                  <a:noFill/>
                </a:ln>
                <a:solidFill>
                  <a:schemeClr val="tx1">
                    <a:lumMod val="85000"/>
                    <a:lumOff val="15000"/>
                  </a:schemeClr>
                </a:solidFill>
                <a:effectLst/>
                <a:latin typeface="Arial Black" panose="020B0A04020102020204" pitchFamily="34" charset="0"/>
              </a:rPr>
              <a:t>Periodo del Día </a:t>
            </a:r>
            <a:endParaRPr kumimoji="0" lang="es-ES" altLang="es-ES" sz="1800" b="0" i="0" u="none" strike="noStrike" cap="none" normalizeH="0" baseline="0" dirty="0">
              <a:ln>
                <a:noFill/>
              </a:ln>
              <a:solidFill>
                <a:schemeClr val="tx1">
                  <a:lumMod val="85000"/>
                  <a:lumOff val="15000"/>
                </a:schemeClr>
              </a:solidFill>
              <a:effectLst/>
              <a:latin typeface="Arial Black" panose="020B0A040201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 name="Rectángulo 21"/>
          <p:cNvSpPr/>
          <p:nvPr/>
        </p:nvSpPr>
        <p:spPr>
          <a:xfrm>
            <a:off x="0" y="738231"/>
            <a:ext cx="12192000" cy="388933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CuadroTexto 15"/>
          <p:cNvSpPr txBox="1"/>
          <p:nvPr/>
        </p:nvSpPr>
        <p:spPr>
          <a:xfrm>
            <a:off x="2104373" y="215011"/>
            <a:ext cx="11047956" cy="523220"/>
          </a:xfrm>
          <a:prstGeom prst="rect">
            <a:avLst/>
          </a:prstGeom>
          <a:noFill/>
        </p:spPr>
        <p:txBody>
          <a:bodyPr wrap="square" rtlCol="0">
            <a:spAutoFit/>
          </a:bodyPr>
          <a:lstStyle/>
          <a:p>
            <a:r>
              <a:rPr lang="es-ES" sz="2800" b="1" dirty="0">
                <a:solidFill>
                  <a:schemeClr val="tx1">
                    <a:lumMod val="85000"/>
                    <a:lumOff val="15000"/>
                  </a:schemeClr>
                </a:solidFill>
                <a:latin typeface="Arial Black" panose="020B0A04020102020204" pitchFamily="34" charset="0"/>
              </a:rPr>
              <a:t>Severidad y Clima: Resultados del Análisis</a:t>
            </a:r>
          </a:p>
        </p:txBody>
      </p:sp>
      <p:pic>
        <p:nvPicPr>
          <p:cNvPr id="18" name="Imagen 1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890" y="738231"/>
            <a:ext cx="4994694" cy="3889331"/>
          </a:xfrm>
          <a:prstGeom prst="rect">
            <a:avLst/>
          </a:prstGeom>
        </p:spPr>
      </p:pic>
      <p:pic>
        <p:nvPicPr>
          <p:cNvPr id="20" name="Imagen 1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70473" y="1056818"/>
            <a:ext cx="6553926" cy="3570744"/>
          </a:xfrm>
          <a:prstGeom prst="rect">
            <a:avLst/>
          </a:prstGeom>
        </p:spPr>
      </p:pic>
      <p:sp>
        <p:nvSpPr>
          <p:cNvPr id="21" name="CuadroTexto 20"/>
          <p:cNvSpPr txBox="1"/>
          <p:nvPr/>
        </p:nvSpPr>
        <p:spPr>
          <a:xfrm>
            <a:off x="212255" y="4946149"/>
            <a:ext cx="11767490" cy="584775"/>
          </a:xfrm>
          <a:prstGeom prst="rect">
            <a:avLst/>
          </a:prstGeom>
          <a:noFill/>
        </p:spPr>
        <p:txBody>
          <a:bodyPr wrap="square" rtlCol="0">
            <a:spAutoFit/>
          </a:bodyPr>
          <a:lstStyle/>
          <a:p>
            <a:pPr marL="285750" indent="-285750" algn="just">
              <a:buFont typeface="Courier New" panose="02070309020205020404" pitchFamily="49" charset="0"/>
              <a:buChar char="o"/>
            </a:pPr>
            <a:r>
              <a:rPr lang="es-ES" sz="1600" dirty="0">
                <a:solidFill>
                  <a:schemeClr val="tx1">
                    <a:lumMod val="85000"/>
                    <a:lumOff val="15000"/>
                  </a:schemeClr>
                </a:solidFill>
                <a:latin typeface="Arial Black" panose="020B0A04020102020204" pitchFamily="34" charset="0"/>
              </a:rPr>
              <a:t>El mapa de calor de correlaciones confirma que la severidad tiene correlaciones muy bajas con variables climáticas y de distancia (|r| &lt; 0.1)</a:t>
            </a:r>
          </a:p>
        </p:txBody>
      </p:sp>
      <p:sp>
        <p:nvSpPr>
          <p:cNvPr id="23" name="CuadroTexto 22"/>
          <p:cNvSpPr txBox="1"/>
          <p:nvPr/>
        </p:nvSpPr>
        <p:spPr>
          <a:xfrm>
            <a:off x="212255" y="5530924"/>
            <a:ext cx="11767490" cy="1077218"/>
          </a:xfrm>
          <a:prstGeom prst="rect">
            <a:avLst/>
          </a:prstGeom>
          <a:noFill/>
        </p:spPr>
        <p:txBody>
          <a:bodyPr wrap="square" rtlCol="0">
            <a:spAutoFit/>
          </a:bodyPr>
          <a:lstStyle/>
          <a:p>
            <a:pPr marL="285750" indent="-285750" algn="just">
              <a:buFont typeface="Courier New" panose="02070309020205020404" pitchFamily="49" charset="0"/>
              <a:buChar char="o"/>
            </a:pPr>
            <a:r>
              <a:rPr lang="es-ES" sz="1600" dirty="0">
                <a:solidFill>
                  <a:schemeClr val="tx1">
                    <a:lumMod val="85000"/>
                    <a:lumOff val="15000"/>
                  </a:schemeClr>
                </a:solidFill>
                <a:latin typeface="Arial Black" panose="020B0A04020102020204" pitchFamily="34" charset="0"/>
              </a:rPr>
              <a:t>La gráfica de severidad por las 8 condiciones climáticas más frecuentes muestra que la mediana de severidad se mantiene en nivel 2 para todas las condiciones. No se observan diferencias sustanciales entre condiciones como "Fair", "Cloudy", "Rain" u otras, lo que indica que el tipo de clima registrado no discrimina significativamente la gravedad del accidente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35692" y="679504"/>
            <a:ext cx="5551428" cy="2984844"/>
          </a:xfrm>
          <a:prstGeom prst="rect">
            <a:avLst/>
          </a:prstGeom>
        </p:spPr>
      </p:pic>
      <p:sp>
        <p:nvSpPr>
          <p:cNvPr id="6" name="CuadroTexto 5"/>
          <p:cNvSpPr txBox="1"/>
          <p:nvPr/>
        </p:nvSpPr>
        <p:spPr>
          <a:xfrm>
            <a:off x="2445401" y="156284"/>
            <a:ext cx="7664864" cy="523220"/>
          </a:xfrm>
          <a:prstGeom prst="rect">
            <a:avLst/>
          </a:prstGeom>
          <a:noFill/>
        </p:spPr>
        <p:txBody>
          <a:bodyPr wrap="square" rtlCol="0">
            <a:spAutoFit/>
          </a:bodyPr>
          <a:lstStyle/>
          <a:p>
            <a:r>
              <a:rPr lang="en-US" sz="2800" dirty="0">
                <a:solidFill>
                  <a:schemeClr val="tx1">
                    <a:lumMod val="85000"/>
                    <a:lumOff val="15000"/>
                  </a:schemeClr>
                </a:solidFill>
                <a:latin typeface="Arial Black" panose="020B0A04020102020204" pitchFamily="34" charset="0"/>
              </a:rPr>
              <a:t>Severidad-Hora y Severidad-Ubicaci</a:t>
            </a:r>
            <a:r>
              <a:rPr lang="es-ES" sz="2800" dirty="0" err="1">
                <a:solidFill>
                  <a:schemeClr val="tx1">
                    <a:lumMod val="85000"/>
                    <a:lumOff val="15000"/>
                  </a:schemeClr>
                </a:solidFill>
                <a:latin typeface="Arial Black" panose="020B0A04020102020204" pitchFamily="34" charset="0"/>
              </a:rPr>
              <a:t>ón</a:t>
            </a:r>
            <a:endParaRPr lang="es-ES" sz="2800" dirty="0">
              <a:solidFill>
                <a:schemeClr val="tx1">
                  <a:lumMod val="85000"/>
                  <a:lumOff val="15000"/>
                </a:schemeClr>
              </a:solidFill>
              <a:latin typeface="Arial Black" panose="020B0A04020102020204" pitchFamily="34" charset="0"/>
            </a:endParaRPr>
          </a:p>
        </p:txBody>
      </p:sp>
      <p:sp>
        <p:nvSpPr>
          <p:cNvPr id="7" name="CuadroTexto 6"/>
          <p:cNvSpPr txBox="1"/>
          <p:nvPr/>
        </p:nvSpPr>
        <p:spPr>
          <a:xfrm>
            <a:off x="159333" y="820741"/>
            <a:ext cx="5912696" cy="1600438"/>
          </a:xfrm>
          <a:prstGeom prst="rect">
            <a:avLst/>
          </a:prstGeom>
          <a:noFill/>
        </p:spPr>
        <p:txBody>
          <a:bodyPr wrap="square" rtlCol="0">
            <a:spAutoFit/>
          </a:bodyPr>
          <a:lstStyle/>
          <a:p>
            <a:pPr algn="just"/>
            <a:r>
              <a:rPr lang="es-ES" sz="1400" dirty="0">
                <a:solidFill>
                  <a:schemeClr val="tx1">
                    <a:lumMod val="85000"/>
                    <a:lumOff val="15000"/>
                  </a:schemeClr>
                </a:solidFill>
                <a:latin typeface="Arial Black" panose="020B0A04020102020204" pitchFamily="34" charset="0"/>
              </a:rPr>
              <a:t>El conteo de accidentes por hora revela un patrón claramente asociado a los ciclos de actividad vehicular diaria. Se identifican dos picos principales:</a:t>
            </a:r>
          </a:p>
          <a:p>
            <a:pPr algn="just"/>
            <a:r>
              <a:rPr lang="es-ES" sz="1400" dirty="0">
                <a:solidFill>
                  <a:schemeClr val="tx1">
                    <a:lumMod val="85000"/>
                    <a:lumOff val="15000"/>
                  </a:schemeClr>
                </a:solidFill>
                <a:latin typeface="Arial Black" panose="020B0A04020102020204" pitchFamily="34" charset="0"/>
              </a:rPr>
              <a:t> - Pico matutino (6:00 - 9:00): Corresponde a las horas de desplazamiento hacia el trabajo y escuelas.</a:t>
            </a:r>
          </a:p>
          <a:p>
            <a:pPr algn="just"/>
            <a:r>
              <a:rPr lang="es-ES" sz="1400" dirty="0">
                <a:solidFill>
                  <a:schemeClr val="tx1">
                    <a:lumMod val="85000"/>
                    <a:lumOff val="15000"/>
                  </a:schemeClr>
                </a:solidFill>
                <a:latin typeface="Arial Black" panose="020B0A04020102020204" pitchFamily="34" charset="0"/>
              </a:rPr>
              <a:t> - Pico vespertino (15:00 - 18:00): Coincide con el regreso a casa y la salida de actividades laborales.</a:t>
            </a:r>
          </a:p>
        </p:txBody>
      </p:sp>
      <p:sp>
        <p:nvSpPr>
          <p:cNvPr id="9" name="CuadroTexto 8"/>
          <p:cNvSpPr txBox="1"/>
          <p:nvPr/>
        </p:nvSpPr>
        <p:spPr>
          <a:xfrm>
            <a:off x="214210" y="2300807"/>
            <a:ext cx="5905763" cy="523220"/>
          </a:xfrm>
          <a:prstGeom prst="rect">
            <a:avLst/>
          </a:prstGeom>
          <a:noFill/>
        </p:spPr>
        <p:txBody>
          <a:bodyPr wrap="square" rtlCol="0">
            <a:spAutoFit/>
          </a:bodyPr>
          <a:lstStyle/>
          <a:p>
            <a:pPr algn="just"/>
            <a:r>
              <a:rPr lang="es-ES" sz="1400" dirty="0">
                <a:solidFill>
                  <a:schemeClr val="tx1">
                    <a:lumMod val="85000"/>
                    <a:lumOff val="15000"/>
                  </a:schemeClr>
                </a:solidFill>
                <a:latin typeface="Arial Black" panose="020B0A04020102020204" pitchFamily="34" charset="0"/>
              </a:rPr>
              <a:t>- La severidad 2 domina en todas las horas, manteniendo el patrón general del dataset</a:t>
            </a:r>
          </a:p>
        </p:txBody>
      </p:sp>
      <p:pic>
        <p:nvPicPr>
          <p:cNvPr id="10" name="Imagen 9"/>
          <p:cNvPicPr>
            <a:picLocks noChangeAspect="1"/>
          </p:cNvPicPr>
          <p:nvPr/>
        </p:nvPicPr>
        <p:blipFill>
          <a:blip r:embed="rId3"/>
          <a:stretch>
            <a:fillRect/>
          </a:stretch>
        </p:blipFill>
        <p:spPr>
          <a:xfrm>
            <a:off x="310393" y="2890017"/>
            <a:ext cx="5305693" cy="3940257"/>
          </a:xfrm>
          <a:prstGeom prst="rect">
            <a:avLst/>
          </a:prstGeom>
        </p:spPr>
      </p:pic>
      <p:sp>
        <p:nvSpPr>
          <p:cNvPr id="11" name="CuadroTexto 10"/>
          <p:cNvSpPr txBox="1"/>
          <p:nvPr/>
        </p:nvSpPr>
        <p:spPr>
          <a:xfrm>
            <a:off x="6072029" y="4162855"/>
            <a:ext cx="5924816" cy="2462213"/>
          </a:xfrm>
          <a:prstGeom prst="rect">
            <a:avLst/>
          </a:prstGeom>
          <a:noFill/>
        </p:spPr>
        <p:txBody>
          <a:bodyPr wrap="square" rtlCol="0">
            <a:spAutoFit/>
          </a:bodyPr>
          <a:lstStyle/>
          <a:p>
            <a:pPr algn="just"/>
            <a:r>
              <a:rPr lang="es-ES" sz="1400" dirty="0">
                <a:solidFill>
                  <a:schemeClr val="tx1">
                    <a:lumMod val="85000"/>
                    <a:lumOff val="15000"/>
                  </a:schemeClr>
                </a:solidFill>
                <a:latin typeface="Arial Black" panose="020B0A04020102020204" pitchFamily="34" charset="0"/>
              </a:rPr>
              <a:t>- La severidad promedio se mantiene cercana al nivel 2 en todos los estados, consistente con el patrón general del dataset.</a:t>
            </a:r>
          </a:p>
          <a:p>
            <a:pPr algn="just"/>
            <a:r>
              <a:rPr lang="es-ES" sz="1400" dirty="0">
                <a:solidFill>
                  <a:schemeClr val="tx1">
                    <a:lumMod val="85000"/>
                    <a:lumOff val="15000"/>
                  </a:schemeClr>
                </a:solidFill>
                <a:latin typeface="Arial Black" panose="020B0A04020102020204" pitchFamily="34" charset="0"/>
              </a:rPr>
              <a:t> - Sin embargo, existen variaciones notables: algunos estados muestran severidad promedio ligeramente superior (más cerca de 2.3-2.4) mientras otros están más cerca de 2.0.</a:t>
            </a:r>
          </a:p>
          <a:p>
            <a:pPr algn="just"/>
            <a:r>
              <a:rPr lang="es-ES" sz="1400" dirty="0">
                <a:solidFill>
                  <a:schemeClr val="tx1">
                    <a:lumMod val="85000"/>
                    <a:lumOff val="15000"/>
                  </a:schemeClr>
                </a:solidFill>
                <a:latin typeface="Arial Black" panose="020B0A04020102020204" pitchFamily="34" charset="0"/>
              </a:rPr>
              <a:t> - No hay una correlación directa entre el volumen de accidentes y la severidad promedio. Por ejemplo, California tiene muchos accidentes pero no necesariamente la mayor severidad promedio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ángulo 10"/>
          <p:cNvSpPr/>
          <p:nvPr/>
        </p:nvSpPr>
        <p:spPr>
          <a:xfrm>
            <a:off x="0" y="0"/>
            <a:ext cx="6887361" cy="687897"/>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lumMod val="85000"/>
                  <a:lumOff val="15000"/>
                </a:schemeClr>
              </a:solidFill>
            </a:endParaRPr>
          </a:p>
        </p:txBody>
      </p:sp>
      <p:pic>
        <p:nvPicPr>
          <p:cNvPr id="8" name="Imagen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841" y="990172"/>
            <a:ext cx="5221234" cy="4005080"/>
          </a:xfrm>
          <a:prstGeom prst="rect">
            <a:avLst/>
          </a:prstGeom>
        </p:spPr>
      </p:pic>
      <p:sp>
        <p:nvSpPr>
          <p:cNvPr id="9" name="CuadroTexto 8"/>
          <p:cNvSpPr txBox="1"/>
          <p:nvPr/>
        </p:nvSpPr>
        <p:spPr>
          <a:xfrm>
            <a:off x="230454" y="126106"/>
            <a:ext cx="6820250" cy="461665"/>
          </a:xfrm>
          <a:prstGeom prst="rect">
            <a:avLst/>
          </a:prstGeom>
          <a:noFill/>
        </p:spPr>
        <p:txBody>
          <a:bodyPr wrap="square" rtlCol="0">
            <a:spAutoFit/>
          </a:bodyPr>
          <a:lstStyle/>
          <a:p>
            <a:r>
              <a:rPr lang="es-ES" sz="2400" dirty="0">
                <a:solidFill>
                  <a:schemeClr val="bg1"/>
                </a:solidFill>
                <a:latin typeface="Arial Black" panose="020B0A04020102020204" pitchFamily="34" charset="0"/>
              </a:rPr>
              <a:t>Relación entre Severidad y Duración </a:t>
            </a:r>
          </a:p>
        </p:txBody>
      </p:sp>
      <p:sp>
        <p:nvSpPr>
          <p:cNvPr id="10" name="CuadroTexto 9"/>
          <p:cNvSpPr txBox="1"/>
          <p:nvPr/>
        </p:nvSpPr>
        <p:spPr>
          <a:xfrm>
            <a:off x="5553512" y="751344"/>
            <a:ext cx="6550647" cy="5355312"/>
          </a:xfrm>
          <a:prstGeom prst="rect">
            <a:avLst/>
          </a:prstGeom>
          <a:noFill/>
        </p:spPr>
        <p:txBody>
          <a:bodyPr wrap="square" rtlCol="0">
            <a:spAutoFit/>
          </a:bodyPr>
          <a:lstStyle/>
          <a:p>
            <a:pPr algn="ctr"/>
            <a:r>
              <a:rPr lang="es-ES" sz="2000" dirty="0">
                <a:solidFill>
                  <a:schemeClr val="tx1">
                    <a:lumMod val="85000"/>
                    <a:lumOff val="15000"/>
                  </a:schemeClr>
                </a:solidFill>
                <a:latin typeface="Arial Black" panose="020B0A04020102020204" pitchFamily="34" charset="0"/>
              </a:rPr>
              <a:t>Observaciones principales</a:t>
            </a:r>
          </a:p>
          <a:p>
            <a:pPr algn="just"/>
            <a:endParaRPr lang="es-ES" dirty="0">
              <a:solidFill>
                <a:schemeClr val="tx1">
                  <a:lumMod val="85000"/>
                  <a:lumOff val="15000"/>
                </a:schemeClr>
              </a:solidFill>
              <a:latin typeface="Arial Black" panose="020B0A04020102020204" pitchFamily="34" charset="0"/>
            </a:endParaRPr>
          </a:p>
          <a:p>
            <a:pPr algn="just"/>
            <a:r>
              <a:rPr lang="es-ES" dirty="0">
                <a:solidFill>
                  <a:schemeClr val="tx1">
                    <a:lumMod val="85000"/>
                    <a:lumOff val="15000"/>
                  </a:schemeClr>
                </a:solidFill>
                <a:latin typeface="Arial Black" panose="020B0A04020102020204" pitchFamily="34" charset="0"/>
              </a:rPr>
              <a:t>- Tendencia creciente: A medida que aumenta el nivel de severidad, la duración mediana del accidente también incrementa. Los accidentes de severidad 4 tienen una duración notablemente mayor que los de severidad 1 o 2.</a:t>
            </a:r>
          </a:p>
          <a:p>
            <a:pPr algn="just"/>
            <a:endParaRPr lang="es-ES" dirty="0">
              <a:solidFill>
                <a:schemeClr val="tx1">
                  <a:lumMod val="85000"/>
                  <a:lumOff val="15000"/>
                </a:schemeClr>
              </a:solidFill>
              <a:latin typeface="Arial Black" panose="020B0A04020102020204" pitchFamily="34" charset="0"/>
            </a:endParaRPr>
          </a:p>
          <a:p>
            <a:pPr algn="just"/>
            <a:r>
              <a:rPr lang="es-ES" dirty="0">
                <a:solidFill>
                  <a:schemeClr val="tx1">
                    <a:lumMod val="85000"/>
                    <a:lumOff val="15000"/>
                  </a:schemeClr>
                </a:solidFill>
                <a:latin typeface="Arial Black" panose="020B0A04020102020204" pitchFamily="34" charset="0"/>
              </a:rPr>
              <a:t>- Mayor dispersión en severidades altas: Los accidentes más graves (severidad 3 y 4) muestran cajas más amplias y bigotes más extensos, indicando mayor variabilidad en los tiempos de resolución.</a:t>
            </a:r>
          </a:p>
          <a:p>
            <a:pPr algn="just"/>
            <a:endParaRPr lang="es-ES" dirty="0">
              <a:solidFill>
                <a:schemeClr val="tx1">
                  <a:lumMod val="85000"/>
                  <a:lumOff val="15000"/>
                </a:schemeClr>
              </a:solidFill>
              <a:latin typeface="Arial Black" panose="020B0A04020102020204" pitchFamily="34" charset="0"/>
            </a:endParaRPr>
          </a:p>
          <a:p>
            <a:pPr algn="just"/>
            <a:r>
              <a:rPr lang="es-ES" dirty="0">
                <a:solidFill>
                  <a:schemeClr val="tx1">
                    <a:lumMod val="85000"/>
                    <a:lumOff val="15000"/>
                  </a:schemeClr>
                </a:solidFill>
                <a:latin typeface="Arial Black" panose="020B0A04020102020204" pitchFamily="34" charset="0"/>
              </a:rPr>
              <a:t>- Outliers en todos los niveles: Se observan valores atípicos en todas las categorías, pero son más frecuentes y extremos en severidades bajas, posiblemente debido al mayor volumen de datos en esas categorías.</a:t>
            </a:r>
          </a:p>
        </p:txBody>
      </p:sp>
      <p:sp>
        <p:nvSpPr>
          <p:cNvPr id="12" name="CuadroTexto 11"/>
          <p:cNvSpPr txBox="1"/>
          <p:nvPr/>
        </p:nvSpPr>
        <p:spPr>
          <a:xfrm>
            <a:off x="87840" y="5131456"/>
            <a:ext cx="5348317" cy="1600438"/>
          </a:xfrm>
          <a:prstGeom prst="rect">
            <a:avLst/>
          </a:prstGeom>
          <a:noFill/>
        </p:spPr>
        <p:txBody>
          <a:bodyPr wrap="square" rtlCol="0">
            <a:spAutoFit/>
          </a:bodyPr>
          <a:lstStyle/>
          <a:p>
            <a:pPr algn="just"/>
            <a:r>
              <a:rPr lang="es-ES" sz="1400" dirty="0">
                <a:solidFill>
                  <a:schemeClr val="tx1">
                    <a:lumMod val="85000"/>
                    <a:lumOff val="15000"/>
                  </a:schemeClr>
                </a:solidFill>
                <a:latin typeface="Arial Black" panose="020B0A04020102020204" pitchFamily="34" charset="0"/>
              </a:rPr>
              <a:t>NOTA</a:t>
            </a:r>
            <a:r>
              <a:rPr lang="en-US" sz="1400" dirty="0">
                <a:solidFill>
                  <a:schemeClr val="tx1">
                    <a:lumMod val="85000"/>
                    <a:lumOff val="15000"/>
                  </a:schemeClr>
                </a:solidFill>
                <a:latin typeface="Arial Black" panose="020B0A04020102020204" pitchFamily="34" charset="0"/>
              </a:rPr>
              <a:t>: </a:t>
            </a:r>
            <a:r>
              <a:rPr lang="es-ES" sz="1400" dirty="0">
                <a:solidFill>
                  <a:schemeClr val="tx1">
                    <a:lumMod val="85000"/>
                    <a:lumOff val="15000"/>
                  </a:schemeClr>
                </a:solidFill>
                <a:latin typeface="Arial Black" panose="020B0A04020102020204" pitchFamily="34" charset="0"/>
              </a:rPr>
              <a:t>La duración en este dataset representa el tiempo que el incidente afectó el tráfico (desde `Start Time` hasta `End Time`), no necesariamente la gravedad de las lesiones. Por ello, esta variable podría considerarse más como una **consecuencia de la severidad** que como un predictor independiente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p:cNvSpPr txBox="1"/>
          <p:nvPr/>
        </p:nvSpPr>
        <p:spPr>
          <a:xfrm>
            <a:off x="1906530" y="86879"/>
            <a:ext cx="8483434" cy="523220"/>
          </a:xfrm>
          <a:prstGeom prst="rect">
            <a:avLst/>
          </a:prstGeom>
          <a:noFill/>
        </p:spPr>
        <p:txBody>
          <a:bodyPr wrap="square" rtlCol="0">
            <a:spAutoFit/>
          </a:bodyPr>
          <a:lstStyle/>
          <a:p>
            <a:r>
              <a:rPr lang="es-ES" sz="2800" dirty="0">
                <a:solidFill>
                  <a:schemeClr val="tx1">
                    <a:lumMod val="85000"/>
                    <a:lumOff val="15000"/>
                  </a:schemeClr>
                </a:solidFill>
                <a:latin typeface="Arial Black" panose="020B0A04020102020204" pitchFamily="34" charset="0"/>
              </a:rPr>
              <a:t>Árbol de Decisión, Resultados del Modelo</a:t>
            </a:r>
          </a:p>
        </p:txBody>
      </p:sp>
      <p:sp>
        <p:nvSpPr>
          <p:cNvPr id="11" name="CuadroTexto 10"/>
          <p:cNvSpPr txBox="1"/>
          <p:nvPr/>
        </p:nvSpPr>
        <p:spPr>
          <a:xfrm>
            <a:off x="162961" y="4902317"/>
            <a:ext cx="2522290" cy="614045"/>
          </a:xfrm>
          <a:prstGeom prst="rect">
            <a:avLst/>
          </a:prstGeom>
          <a:noFill/>
        </p:spPr>
        <p:txBody>
          <a:bodyPr wrap="square" rtlCol="0">
            <a:spAutoFit/>
          </a:bodyPr>
          <a:lstStyle/>
          <a:p>
            <a:pPr algn="just"/>
            <a:endParaRPr lang="es-ES" dirty="0">
              <a:solidFill>
                <a:schemeClr val="tx1">
                  <a:lumMod val="85000"/>
                  <a:lumOff val="15000"/>
                </a:schemeClr>
              </a:solidFill>
              <a:latin typeface="Arial Black" panose="020B0A04020102020204" pitchFamily="34" charset="0"/>
            </a:endParaRPr>
          </a:p>
          <a:p>
            <a:pPr marL="285750" indent="-285750" algn="just">
              <a:buFont typeface="Arial" panose="020B0604020202020204" pitchFamily="34" charset="0"/>
              <a:buChar char="•"/>
            </a:pPr>
            <a:r>
              <a:rPr lang="es-ES" sz="1600" b="1" dirty="0">
                <a:solidFill>
                  <a:schemeClr val="tx1">
                    <a:lumMod val="85000"/>
                    <a:lumOff val="15000"/>
                  </a:schemeClr>
                </a:solidFill>
                <a:latin typeface="Arial Black" panose="020B0A04020102020204" pitchFamily="34" charset="0"/>
              </a:rPr>
              <a:t>Exactitud: </a:t>
            </a:r>
            <a:r>
              <a:rPr lang="en-US" altLang="es-ES" sz="1600" b="1" dirty="0">
                <a:solidFill>
                  <a:schemeClr val="tx1">
                    <a:lumMod val="85000"/>
                    <a:lumOff val="15000"/>
                  </a:schemeClr>
                </a:solidFill>
                <a:latin typeface="Arial Black" panose="020B0A04020102020204" pitchFamily="34" charset="0"/>
              </a:rPr>
              <a:t>52</a:t>
            </a:r>
            <a:r>
              <a:rPr lang="es-ES" sz="1600" b="1" dirty="0">
                <a:solidFill>
                  <a:schemeClr val="tx1">
                    <a:lumMod val="85000"/>
                    <a:lumOff val="15000"/>
                  </a:schemeClr>
                </a:solidFill>
                <a:latin typeface="Arial Black" panose="020B0A04020102020204" pitchFamily="34" charset="0"/>
              </a:rPr>
              <a:t>.</a:t>
            </a:r>
            <a:r>
              <a:rPr lang="en-US" altLang="es-ES" sz="1600" b="1" dirty="0">
                <a:solidFill>
                  <a:schemeClr val="tx1">
                    <a:lumMod val="85000"/>
                    <a:lumOff val="15000"/>
                  </a:schemeClr>
                </a:solidFill>
                <a:latin typeface="Arial Black" panose="020B0A04020102020204" pitchFamily="34" charset="0"/>
              </a:rPr>
              <a:t>0</a:t>
            </a:r>
            <a:r>
              <a:rPr lang="es-ES" sz="1600" b="1" dirty="0">
                <a:solidFill>
                  <a:schemeClr val="tx1">
                    <a:lumMod val="85000"/>
                    <a:lumOff val="15000"/>
                  </a:schemeClr>
                </a:solidFill>
                <a:latin typeface="Arial Black" panose="020B0A04020102020204" pitchFamily="34" charset="0"/>
              </a:rPr>
              <a:t>9%</a:t>
            </a:r>
            <a:endParaRPr lang="es-ES" sz="1600" dirty="0">
              <a:solidFill>
                <a:schemeClr val="tx1">
                  <a:lumMod val="85000"/>
                  <a:lumOff val="15000"/>
                </a:schemeClr>
              </a:solidFill>
              <a:latin typeface="Arial Black" panose="020B0A04020102020204" pitchFamily="34" charset="0"/>
            </a:endParaRPr>
          </a:p>
        </p:txBody>
      </p:sp>
      <p:sp>
        <p:nvSpPr>
          <p:cNvPr id="12" name="CuadroTexto 11"/>
          <p:cNvSpPr txBox="1"/>
          <p:nvPr/>
        </p:nvSpPr>
        <p:spPr>
          <a:xfrm>
            <a:off x="162961" y="5535515"/>
            <a:ext cx="11866077" cy="583565"/>
          </a:xfrm>
          <a:prstGeom prst="rect">
            <a:avLst/>
          </a:prstGeom>
          <a:noFill/>
        </p:spPr>
        <p:txBody>
          <a:bodyPr wrap="square" rtlCol="0">
            <a:spAutoFit/>
          </a:bodyPr>
          <a:lstStyle/>
          <a:p>
            <a:pPr marL="285750" marR="0" lvl="0" indent="-285750" algn="just"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es-E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Muestra un sesgo hacia la predicci</a:t>
            </a:r>
            <a:r>
              <a:rPr kumimoji="0" lang="" altLang="es-E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ón</a:t>
            </a:r>
            <a:r>
              <a:rPr kumimoji="0" lang="en-US" altLang="es-E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 de la severidad 1 lo que </a:t>
            </a:r>
            <a:r>
              <a:rPr kumimoji="0" lang="en-US" altLang="en-U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sugiere que los accidentes con menor impacto en tráfico tienen características más distintivas y predecibles que los de alto impacto</a:t>
            </a:r>
          </a:p>
        </p:txBody>
      </p:sp>
      <p:sp>
        <p:nvSpPr>
          <p:cNvPr id="13" name="CuadroTexto 12"/>
          <p:cNvSpPr txBox="1"/>
          <p:nvPr/>
        </p:nvSpPr>
        <p:spPr>
          <a:xfrm>
            <a:off x="162961" y="6137935"/>
            <a:ext cx="11897350" cy="583565"/>
          </a:xfrm>
          <a:prstGeom prst="rect">
            <a:avLst/>
          </a:prstGeom>
          <a:noFill/>
        </p:spPr>
        <p:txBody>
          <a:bodyPr wrap="square" rtlCol="0">
            <a:spAutoFit/>
          </a:bodyPr>
          <a:lstStyle/>
          <a:p>
            <a:pPr marL="285750" marR="0" lvl="0" indent="-285750" algn="just"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s-ES" sz="1600" b="1"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Factores Principales (Top 3):</a:t>
            </a:r>
            <a:r>
              <a:rPr kumimoji="0" lang="es-E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 Identificó </a:t>
            </a:r>
            <a:r>
              <a:rPr kumimoji="0" lang="en-US" altLang="es-ES" sz="1600" b="0" i="1"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Mes</a:t>
            </a:r>
            <a:r>
              <a:rPr kumimoji="0" lang="es-E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 </a:t>
            </a:r>
            <a:r>
              <a:rPr kumimoji="0" lang="es-ES" sz="1600" b="0" i="1"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Estado</a:t>
            </a:r>
            <a:r>
              <a:rPr kumimoji="0" lang="es-E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 y </a:t>
            </a:r>
            <a:r>
              <a:rPr kumimoji="0" lang="es-ES" sz="1600" b="0" i="1"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Presencia de Semáforo</a:t>
            </a:r>
            <a:r>
              <a:rPr kumimoji="0" lang="es-E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 como las variables más importantes para dividir los datos.</a:t>
            </a:r>
          </a:p>
        </p:txBody>
      </p:sp>
      <p:pic>
        <p:nvPicPr>
          <p:cNvPr id="2" name="Picture 1"/>
          <p:cNvPicPr>
            <a:picLocks noChangeAspect="1"/>
          </p:cNvPicPr>
          <p:nvPr/>
        </p:nvPicPr>
        <p:blipFill>
          <a:blip r:embed="rId2"/>
          <a:stretch>
            <a:fillRect/>
          </a:stretch>
        </p:blipFill>
        <p:spPr>
          <a:xfrm>
            <a:off x="163195" y="547370"/>
            <a:ext cx="5342255" cy="4542790"/>
          </a:xfrm>
          <a:prstGeom prst="rect">
            <a:avLst/>
          </a:prstGeom>
        </p:spPr>
      </p:pic>
      <p:pic>
        <p:nvPicPr>
          <p:cNvPr id="3" name="Picture 2"/>
          <p:cNvPicPr>
            <a:picLocks noChangeAspect="1"/>
          </p:cNvPicPr>
          <p:nvPr/>
        </p:nvPicPr>
        <p:blipFill>
          <a:blip r:embed="rId3"/>
          <a:stretch>
            <a:fillRect/>
          </a:stretch>
        </p:blipFill>
        <p:spPr>
          <a:xfrm>
            <a:off x="5602605" y="610235"/>
            <a:ext cx="6457950" cy="429133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p:cNvSpPr txBox="1"/>
          <p:nvPr/>
        </p:nvSpPr>
        <p:spPr>
          <a:xfrm>
            <a:off x="1906530" y="86879"/>
            <a:ext cx="8483434" cy="523220"/>
          </a:xfrm>
          <a:prstGeom prst="rect">
            <a:avLst/>
          </a:prstGeom>
          <a:noFill/>
        </p:spPr>
        <p:txBody>
          <a:bodyPr wrap="square" rtlCol="0">
            <a:spAutoFit/>
          </a:bodyPr>
          <a:lstStyle/>
          <a:p>
            <a:r>
              <a:rPr lang="es-ES" sz="2800" dirty="0">
                <a:solidFill>
                  <a:schemeClr val="tx1">
                    <a:lumMod val="85000"/>
                    <a:lumOff val="15000"/>
                  </a:schemeClr>
                </a:solidFill>
                <a:latin typeface="Arial Black" panose="020B0A04020102020204" pitchFamily="34" charset="0"/>
              </a:rPr>
              <a:t>Random Forest, Resultados del Modelo</a:t>
            </a:r>
          </a:p>
        </p:txBody>
      </p:sp>
      <p:sp>
        <p:nvSpPr>
          <p:cNvPr id="11" name="CuadroTexto 10"/>
          <p:cNvSpPr txBox="1"/>
          <p:nvPr/>
        </p:nvSpPr>
        <p:spPr>
          <a:xfrm>
            <a:off x="162961" y="4902317"/>
            <a:ext cx="2522290" cy="614045"/>
          </a:xfrm>
          <a:prstGeom prst="rect">
            <a:avLst/>
          </a:prstGeom>
          <a:noFill/>
        </p:spPr>
        <p:txBody>
          <a:bodyPr wrap="square" rtlCol="0">
            <a:spAutoFit/>
          </a:bodyPr>
          <a:lstStyle/>
          <a:p>
            <a:pPr algn="just"/>
            <a:endParaRPr lang="es-ES" dirty="0">
              <a:solidFill>
                <a:schemeClr val="tx1">
                  <a:lumMod val="85000"/>
                  <a:lumOff val="15000"/>
                </a:schemeClr>
              </a:solidFill>
              <a:latin typeface="Arial Black" panose="020B0A04020102020204" pitchFamily="34" charset="0"/>
            </a:endParaRPr>
          </a:p>
          <a:p>
            <a:pPr marL="285750" indent="-285750" algn="just">
              <a:buFont typeface="Arial" panose="020B0604020202020204" pitchFamily="34" charset="0"/>
              <a:buChar char="•"/>
            </a:pPr>
            <a:r>
              <a:rPr lang="es-ES" sz="1600" b="1" dirty="0">
                <a:solidFill>
                  <a:schemeClr val="tx1">
                    <a:lumMod val="85000"/>
                    <a:lumOff val="15000"/>
                  </a:schemeClr>
                </a:solidFill>
                <a:latin typeface="Arial Black" panose="020B0A04020102020204" pitchFamily="34" charset="0"/>
              </a:rPr>
              <a:t>Exactitud: </a:t>
            </a:r>
            <a:r>
              <a:rPr lang="en-US" altLang="es-ES" sz="1600" b="1" dirty="0">
                <a:solidFill>
                  <a:schemeClr val="tx1">
                    <a:lumMod val="85000"/>
                    <a:lumOff val="15000"/>
                  </a:schemeClr>
                </a:solidFill>
                <a:latin typeface="Arial Black" panose="020B0A04020102020204" pitchFamily="34" charset="0"/>
              </a:rPr>
              <a:t>54</a:t>
            </a:r>
            <a:r>
              <a:rPr lang="es-ES" sz="1600" b="1" dirty="0">
                <a:solidFill>
                  <a:schemeClr val="tx1">
                    <a:lumMod val="85000"/>
                    <a:lumOff val="15000"/>
                  </a:schemeClr>
                </a:solidFill>
                <a:latin typeface="Arial Black" panose="020B0A04020102020204" pitchFamily="34" charset="0"/>
              </a:rPr>
              <a:t>.</a:t>
            </a:r>
            <a:r>
              <a:rPr lang="en-US" altLang="es-ES" sz="1600" b="1" dirty="0">
                <a:solidFill>
                  <a:schemeClr val="tx1">
                    <a:lumMod val="85000"/>
                    <a:lumOff val="15000"/>
                  </a:schemeClr>
                </a:solidFill>
                <a:latin typeface="Arial Black" panose="020B0A04020102020204" pitchFamily="34" charset="0"/>
              </a:rPr>
              <a:t>27</a:t>
            </a:r>
            <a:r>
              <a:rPr lang="es-ES" sz="1600" b="1" dirty="0">
                <a:solidFill>
                  <a:schemeClr val="tx1">
                    <a:lumMod val="85000"/>
                    <a:lumOff val="15000"/>
                  </a:schemeClr>
                </a:solidFill>
                <a:latin typeface="Arial Black" panose="020B0A04020102020204" pitchFamily="34" charset="0"/>
              </a:rPr>
              <a:t>%</a:t>
            </a:r>
            <a:endParaRPr lang="es-ES" sz="1600" dirty="0">
              <a:solidFill>
                <a:schemeClr val="tx1">
                  <a:lumMod val="85000"/>
                  <a:lumOff val="15000"/>
                </a:schemeClr>
              </a:solidFill>
              <a:latin typeface="Arial Black" panose="020B0A04020102020204" pitchFamily="34" charset="0"/>
            </a:endParaRPr>
          </a:p>
        </p:txBody>
      </p:sp>
      <p:sp>
        <p:nvSpPr>
          <p:cNvPr id="12" name="CuadroTexto 11"/>
          <p:cNvSpPr txBox="1"/>
          <p:nvPr/>
        </p:nvSpPr>
        <p:spPr>
          <a:xfrm>
            <a:off x="162961" y="5535515"/>
            <a:ext cx="11866077" cy="583565"/>
          </a:xfrm>
          <a:prstGeom prst="rect">
            <a:avLst/>
          </a:prstGeom>
          <a:noFill/>
        </p:spPr>
        <p:txBody>
          <a:bodyPr wrap="square" rtlCol="0">
            <a:spAutoFit/>
          </a:bodyPr>
          <a:lstStyle/>
          <a:p>
            <a:pPr marL="285750" marR="0" lvl="0" indent="-285750" algn="just"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Supera al </a:t>
            </a:r>
            <a:r>
              <a:rPr kumimoji="0" lang=""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Árbol de Decisión </a:t>
            </a:r>
            <a:r>
              <a:rPr kumimoji="0" lang="en-US" altLang="en-U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al combinar múltiples árboles entrenados en muestras bootstrap con selección aleatoria de features</a:t>
            </a:r>
            <a:r>
              <a:rPr kumimoji="0" lang="" altLang="en-U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 </a:t>
            </a:r>
            <a:r>
              <a:rPr kumimoji="0" lang="en-US" altLang="en-U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reduce la varianza y mejora la estabilidad predictiva.</a:t>
            </a:r>
            <a:r>
              <a:rPr kumimoji="0" lang="en-US" altLang="es-E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 </a:t>
            </a:r>
          </a:p>
        </p:txBody>
      </p:sp>
      <p:sp>
        <p:nvSpPr>
          <p:cNvPr id="13" name="CuadroTexto 12"/>
          <p:cNvSpPr txBox="1"/>
          <p:nvPr/>
        </p:nvSpPr>
        <p:spPr>
          <a:xfrm>
            <a:off x="162961" y="6137935"/>
            <a:ext cx="11897350" cy="583565"/>
          </a:xfrm>
          <a:prstGeom prst="rect">
            <a:avLst/>
          </a:prstGeom>
          <a:noFill/>
        </p:spPr>
        <p:txBody>
          <a:bodyPr wrap="square" rtlCol="0">
            <a:spAutoFit/>
          </a:bodyPr>
          <a:lstStyle/>
          <a:p>
            <a:pPr marL="285750" marR="0" lvl="0" indent="-285750" algn="just"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 altLang="es-E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Mantiene el sesgo hacia la predicción de la severidad 1 aunque en menor cantidad y mantiene a Mes, Estado y Presencia de Semáforo como varibles más importantes a la hora de predecir.</a:t>
            </a:r>
          </a:p>
        </p:txBody>
      </p:sp>
      <p:pic>
        <p:nvPicPr>
          <p:cNvPr id="2" name="Picture 1"/>
          <p:cNvPicPr>
            <a:picLocks noChangeAspect="1"/>
          </p:cNvPicPr>
          <p:nvPr/>
        </p:nvPicPr>
        <p:blipFill>
          <a:blip r:embed="rId2"/>
          <a:stretch>
            <a:fillRect/>
          </a:stretch>
        </p:blipFill>
        <p:spPr>
          <a:xfrm>
            <a:off x="15875" y="614680"/>
            <a:ext cx="5238115" cy="4455160"/>
          </a:xfrm>
          <a:prstGeom prst="rect">
            <a:avLst/>
          </a:prstGeom>
        </p:spPr>
      </p:pic>
      <p:pic>
        <p:nvPicPr>
          <p:cNvPr id="4" name="Picture 3"/>
          <p:cNvPicPr>
            <a:picLocks noChangeAspect="1"/>
          </p:cNvPicPr>
          <p:nvPr/>
        </p:nvPicPr>
        <p:blipFill>
          <a:blip r:embed="rId3"/>
          <a:stretch>
            <a:fillRect/>
          </a:stretch>
        </p:blipFill>
        <p:spPr>
          <a:xfrm>
            <a:off x="5222875" y="548005"/>
            <a:ext cx="6805930" cy="452183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CuadroTexto 3"/>
          <p:cNvSpPr txBox="1"/>
          <p:nvPr/>
        </p:nvSpPr>
        <p:spPr>
          <a:xfrm>
            <a:off x="2122415" y="117447"/>
            <a:ext cx="8992998" cy="523220"/>
          </a:xfrm>
          <a:prstGeom prst="rect">
            <a:avLst/>
          </a:prstGeom>
          <a:noFill/>
        </p:spPr>
        <p:txBody>
          <a:bodyPr wrap="square" rtlCol="0">
            <a:spAutoFit/>
          </a:bodyPr>
          <a:lstStyle/>
          <a:p>
            <a:r>
              <a:rPr lang="es-ES" sz="2800">
                <a:solidFill>
                  <a:schemeClr val="tx1">
                    <a:lumMod val="85000"/>
                    <a:lumOff val="15000"/>
                  </a:schemeClr>
                </a:solidFill>
                <a:latin typeface="Arial Black" panose="020B0A04020102020204" pitchFamily="34" charset="0"/>
              </a:rPr>
              <a:t>Comparación y Conclusiones Estratégicas</a:t>
            </a:r>
            <a:endParaRPr lang="es-ES" sz="2800" dirty="0">
              <a:solidFill>
                <a:schemeClr val="tx1">
                  <a:lumMod val="85000"/>
                  <a:lumOff val="15000"/>
                </a:schemeClr>
              </a:solidFill>
              <a:latin typeface="Arial Black" panose="020B0A04020102020204" pitchFamily="34" charset="0"/>
            </a:endParaRPr>
          </a:p>
        </p:txBody>
      </p:sp>
      <p:sp>
        <p:nvSpPr>
          <p:cNvPr id="7" name="CuadroTexto 6"/>
          <p:cNvSpPr txBox="1"/>
          <p:nvPr/>
        </p:nvSpPr>
        <p:spPr>
          <a:xfrm>
            <a:off x="310393" y="721453"/>
            <a:ext cx="5494789" cy="1476375"/>
          </a:xfrm>
          <a:prstGeom prst="rect">
            <a:avLst/>
          </a:prstGeom>
          <a:noFill/>
        </p:spPr>
        <p:txBody>
          <a:bodyPr wrap="square" rtlCol="0">
            <a:spAutoFit/>
          </a:bodyPr>
          <a:lstStyle/>
          <a:p>
            <a:pPr algn="just"/>
            <a:r>
              <a:rPr lang="es-ES" dirty="0">
                <a:solidFill>
                  <a:schemeClr val="tx1">
                    <a:lumMod val="85000"/>
                    <a:lumOff val="15000"/>
                  </a:schemeClr>
                </a:solidFill>
                <a:latin typeface="Arial Black" panose="020B0A04020102020204" pitchFamily="34" charset="0"/>
              </a:rPr>
              <a:t>Ambos modelos tienen una exactitud similar (~</a:t>
            </a:r>
            <a:r>
              <a:rPr lang="en-US" altLang="es-ES" dirty="0">
                <a:solidFill>
                  <a:schemeClr val="tx1">
                    <a:lumMod val="85000"/>
                    <a:lumOff val="15000"/>
                  </a:schemeClr>
                </a:solidFill>
                <a:latin typeface="Arial Black" panose="020B0A04020102020204" pitchFamily="34" charset="0"/>
              </a:rPr>
              <a:t>53</a:t>
            </a:r>
            <a:r>
              <a:rPr lang="es-ES" dirty="0">
                <a:solidFill>
                  <a:schemeClr val="tx1">
                    <a:lumMod val="85000"/>
                    <a:lumOff val="15000"/>
                  </a:schemeClr>
                </a:solidFill>
                <a:latin typeface="Arial Black" panose="020B0A04020102020204" pitchFamily="34" charset="0"/>
              </a:rPr>
              <a:t>%), pero Random Forest es más confiable para un entorno crítico de seguridad vial porque sus predicciones son más estables ante datos nuevos</a:t>
            </a:r>
          </a:p>
        </p:txBody>
      </p:sp>
      <p:sp>
        <p:nvSpPr>
          <p:cNvPr id="8" name="CuadroTexto 7"/>
          <p:cNvSpPr txBox="1"/>
          <p:nvPr/>
        </p:nvSpPr>
        <p:spPr>
          <a:xfrm>
            <a:off x="6238613" y="738231"/>
            <a:ext cx="5494789" cy="1200329"/>
          </a:xfrm>
          <a:prstGeom prst="rect">
            <a:avLst/>
          </a:prstGeom>
          <a:noFill/>
        </p:spPr>
        <p:txBody>
          <a:bodyPr wrap="square" rtlCol="0">
            <a:spAutoFit/>
          </a:bodyPr>
          <a:lstStyle/>
          <a:p>
            <a:pPr algn="just"/>
            <a:r>
              <a:rPr lang="es-ES" dirty="0">
                <a:solidFill>
                  <a:schemeClr val="tx1">
                    <a:lumMod val="85000"/>
                    <a:lumOff val="15000"/>
                  </a:schemeClr>
                </a:solidFill>
                <a:latin typeface="Arial Black" panose="020B0A04020102020204" pitchFamily="34" charset="0"/>
              </a:rPr>
              <a:t>El Árbol de Decisión es útil para explicar por qué ocurren los accidentes, mientras que el Random Forest es mejor para predecir con confianza</a:t>
            </a:r>
          </a:p>
        </p:txBody>
      </p:sp>
      <p:pic>
        <p:nvPicPr>
          <p:cNvPr id="2" name="Picture 1"/>
          <p:cNvPicPr>
            <a:picLocks noChangeAspect="1"/>
          </p:cNvPicPr>
          <p:nvPr/>
        </p:nvPicPr>
        <p:blipFill>
          <a:blip r:embed="rId2"/>
          <a:stretch>
            <a:fillRect/>
          </a:stretch>
        </p:blipFill>
        <p:spPr>
          <a:xfrm>
            <a:off x="0" y="2334260"/>
            <a:ext cx="12192000" cy="4523740"/>
          </a:xfrm>
          <a:prstGeom prst="rect">
            <a:avLst/>
          </a:prstGeom>
        </p:spPr>
      </p:pic>
      <p:pic>
        <p:nvPicPr>
          <p:cNvPr id="5" name="Imagen 4">
            <a:extLst>
              <a:ext uri="{FF2B5EF4-FFF2-40B4-BE49-F238E27FC236}">
                <a16:creationId xmlns:a16="http://schemas.microsoft.com/office/drawing/2014/main" id="{C4CC0A04-C0FB-47DE-A7A5-81023F7578F7}"/>
              </a:ext>
            </a:extLst>
          </p:cNvPr>
          <p:cNvPicPr>
            <a:picLocks noChangeAspect="1"/>
          </p:cNvPicPr>
          <p:nvPr/>
        </p:nvPicPr>
        <p:blipFill>
          <a:blip r:embed="rId3"/>
          <a:stretch>
            <a:fillRect/>
          </a:stretch>
        </p:blipFill>
        <p:spPr>
          <a:xfrm>
            <a:off x="5645427" y="2334260"/>
            <a:ext cx="6429841" cy="41644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Imagen 1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45665" y="3488305"/>
            <a:ext cx="5646335" cy="3369695"/>
          </a:xfrm>
          <a:prstGeom prst="rect">
            <a:avLst/>
          </a:prstGeom>
        </p:spPr>
      </p:pic>
      <p:sp>
        <p:nvSpPr>
          <p:cNvPr id="26" name="Rectángulo 25"/>
          <p:cNvSpPr/>
          <p:nvPr/>
        </p:nvSpPr>
        <p:spPr>
          <a:xfrm>
            <a:off x="6462926" y="3697792"/>
            <a:ext cx="239325" cy="31602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p:cNvSpPr txBox="1"/>
          <p:nvPr/>
        </p:nvSpPr>
        <p:spPr>
          <a:xfrm>
            <a:off x="2539814" y="100569"/>
            <a:ext cx="8229600" cy="460019"/>
          </a:xfrm>
          <a:prstGeom prst="rect">
            <a:avLst/>
          </a:prstGeom>
          <a:noFill/>
        </p:spPr>
        <p:txBody>
          <a:bodyPr wrap="square" rtlCol="0">
            <a:spAutoFit/>
          </a:bodyPr>
          <a:lstStyle/>
          <a:p>
            <a:r>
              <a:rPr lang="en-US" sz="2400" dirty="0">
                <a:solidFill>
                  <a:schemeClr val="tx1">
                    <a:lumMod val="85000"/>
                    <a:lumOff val="15000"/>
                  </a:schemeClr>
                </a:solidFill>
                <a:latin typeface="Arial Black" panose="020B0A04020102020204" pitchFamily="34" charset="0"/>
              </a:rPr>
              <a:t>Análisis de Componentes Principales (PCA)</a:t>
            </a:r>
            <a:endParaRPr lang="es-ES" sz="2400" dirty="0">
              <a:solidFill>
                <a:schemeClr val="tx1">
                  <a:lumMod val="85000"/>
                  <a:lumOff val="15000"/>
                </a:schemeClr>
              </a:solidFill>
              <a:latin typeface="Arial Black" panose="020B0A04020102020204" pitchFamily="34" charset="0"/>
            </a:endParaRPr>
          </a:p>
        </p:txBody>
      </p:sp>
      <p:pic>
        <p:nvPicPr>
          <p:cNvPr id="7" name="Imagen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4951" y="714245"/>
            <a:ext cx="7308049" cy="2787830"/>
          </a:xfrm>
          <a:prstGeom prst="rect">
            <a:avLst/>
          </a:prstGeom>
        </p:spPr>
      </p:pic>
      <p:sp>
        <p:nvSpPr>
          <p:cNvPr id="19" name="CuadroTexto 18"/>
          <p:cNvSpPr txBox="1"/>
          <p:nvPr/>
        </p:nvSpPr>
        <p:spPr>
          <a:xfrm>
            <a:off x="94344" y="3986033"/>
            <a:ext cx="6732209" cy="784830"/>
          </a:xfrm>
          <a:prstGeom prst="rect">
            <a:avLst/>
          </a:prstGeom>
          <a:noFill/>
        </p:spPr>
        <p:txBody>
          <a:bodyPr wrap="square" rtlCol="0">
            <a:spAutoFit/>
          </a:bodyPr>
          <a:lstStyle/>
          <a:p>
            <a:pPr algn="just"/>
            <a:r>
              <a:rPr lang="es-ES" sz="1500" dirty="0">
                <a:solidFill>
                  <a:schemeClr val="tx1">
                    <a:lumMod val="85000"/>
                    <a:lumOff val="15000"/>
                  </a:schemeClr>
                </a:solidFill>
                <a:latin typeface="Arial Black" panose="020B0A04020102020204" pitchFamily="34" charset="0"/>
              </a:rPr>
              <a:t>PC1 concentra la información térmica (temperatura y sensación térmica), reflejando las condiciones generales de calor</a:t>
            </a:r>
          </a:p>
        </p:txBody>
      </p:sp>
      <p:sp>
        <p:nvSpPr>
          <p:cNvPr id="20" name="CuadroTexto 19"/>
          <p:cNvSpPr txBox="1"/>
          <p:nvPr/>
        </p:nvSpPr>
        <p:spPr>
          <a:xfrm>
            <a:off x="87469" y="4740794"/>
            <a:ext cx="6732209" cy="553998"/>
          </a:xfrm>
          <a:prstGeom prst="rect">
            <a:avLst/>
          </a:prstGeom>
          <a:noFill/>
        </p:spPr>
        <p:txBody>
          <a:bodyPr wrap="square" rtlCol="0">
            <a:spAutoFit/>
          </a:bodyPr>
          <a:lstStyle/>
          <a:p>
            <a:pPr algn="just"/>
            <a:r>
              <a:rPr lang="es-ES" sz="1500" dirty="0">
                <a:solidFill>
                  <a:schemeClr val="tx1">
                    <a:lumMod val="85000"/>
                    <a:lumOff val="15000"/>
                  </a:schemeClr>
                </a:solidFill>
                <a:latin typeface="Arial Black" panose="020B0A04020102020204" pitchFamily="34" charset="0"/>
              </a:rPr>
              <a:t>PC2 combina humedad y presión frente al viento, capturando la dinámica atmosférica</a:t>
            </a:r>
          </a:p>
        </p:txBody>
      </p:sp>
      <p:sp>
        <p:nvSpPr>
          <p:cNvPr id="21" name="CuadroTexto 20"/>
          <p:cNvSpPr txBox="1"/>
          <p:nvPr/>
        </p:nvSpPr>
        <p:spPr>
          <a:xfrm>
            <a:off x="94344" y="5368648"/>
            <a:ext cx="6725334" cy="553998"/>
          </a:xfrm>
          <a:prstGeom prst="rect">
            <a:avLst/>
          </a:prstGeom>
          <a:noFill/>
        </p:spPr>
        <p:txBody>
          <a:bodyPr wrap="square" rtlCol="0">
            <a:spAutoFit/>
          </a:bodyPr>
          <a:lstStyle/>
          <a:p>
            <a:pPr algn="just"/>
            <a:r>
              <a:rPr lang="es-ES" sz="1500" dirty="0">
                <a:solidFill>
                  <a:schemeClr val="tx1">
                    <a:lumMod val="85000"/>
                    <a:lumOff val="15000"/>
                  </a:schemeClr>
                </a:solidFill>
                <a:latin typeface="Arial Black" panose="020B0A04020102020204" pitchFamily="34" charset="0"/>
              </a:rPr>
              <a:t>PC3 representa escenarios de precipitación y viento asociados a baja visibilidad, es decir, condiciones adversas</a:t>
            </a:r>
          </a:p>
        </p:txBody>
      </p:sp>
      <p:sp>
        <p:nvSpPr>
          <p:cNvPr id="22" name="CuadroTexto 21"/>
          <p:cNvSpPr txBox="1"/>
          <p:nvPr/>
        </p:nvSpPr>
        <p:spPr>
          <a:xfrm>
            <a:off x="87469" y="5981950"/>
            <a:ext cx="6648649" cy="553998"/>
          </a:xfrm>
          <a:prstGeom prst="rect">
            <a:avLst/>
          </a:prstGeom>
          <a:noFill/>
        </p:spPr>
        <p:txBody>
          <a:bodyPr wrap="square" rtlCol="0">
            <a:spAutoFit/>
          </a:bodyPr>
          <a:lstStyle/>
          <a:p>
            <a:pPr algn="just"/>
            <a:r>
              <a:rPr lang="es-ES" sz="1500" dirty="0">
                <a:solidFill>
                  <a:schemeClr val="tx1">
                    <a:lumMod val="85000"/>
                    <a:lumOff val="15000"/>
                  </a:schemeClr>
                </a:solidFill>
                <a:latin typeface="Arial Black" panose="020B0A04020102020204" pitchFamily="34" charset="0"/>
              </a:rPr>
              <a:t>PC4 y PC5 recogen variaciones adicionales de presión, viento y visibilidad, funcionando como componentes residuales</a:t>
            </a:r>
          </a:p>
        </p:txBody>
      </p:sp>
      <p:sp>
        <p:nvSpPr>
          <p:cNvPr id="2" name="CuadroTexto 1">
            <a:extLst>
              <a:ext uri="{FF2B5EF4-FFF2-40B4-BE49-F238E27FC236}">
                <a16:creationId xmlns:a16="http://schemas.microsoft.com/office/drawing/2014/main" id="{846D838F-CC38-4DD4-955C-44A4A837F957}"/>
              </a:ext>
            </a:extLst>
          </p:cNvPr>
          <p:cNvSpPr txBox="1"/>
          <p:nvPr/>
        </p:nvSpPr>
        <p:spPr>
          <a:xfrm>
            <a:off x="7809567" y="1216397"/>
            <a:ext cx="3865966" cy="1477328"/>
          </a:xfrm>
          <a:prstGeom prst="rect">
            <a:avLst/>
          </a:prstGeom>
          <a:noFill/>
        </p:spPr>
        <p:txBody>
          <a:bodyPr wrap="square" rtlCol="0">
            <a:spAutoFit/>
          </a:bodyPr>
          <a:lstStyle/>
          <a:p>
            <a:pPr algn="just"/>
            <a:r>
              <a:rPr lang="es-US" sz="1500" dirty="0">
                <a:latin typeface="Arial Black" panose="020B0A04020102020204" pitchFamily="34" charset="0"/>
              </a:rPr>
              <a:t>En la componente 5 se alcanza más del 90% de la varianza acumulada. </a:t>
            </a:r>
            <a:r>
              <a:rPr lang="es-ES" sz="1500" dirty="0">
                <a:effectLst/>
                <a:latin typeface="Arial Black" panose="020B0A04020102020204" pitchFamily="34" charset="0"/>
                <a:ea typeface="Calibri" panose="020F0502020204030204" pitchFamily="34" charset="0"/>
              </a:rPr>
              <a:t>Logrando así pasar de un escenario complejo de 7 variables climáticas originales a solo 5 componentes principales</a:t>
            </a:r>
            <a:endParaRPr lang="es-ES" sz="1500" dirty="0">
              <a:latin typeface="Arial Black" panose="020B0A04020102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ángulo 14"/>
          <p:cNvSpPr/>
          <p:nvPr/>
        </p:nvSpPr>
        <p:spPr>
          <a:xfrm>
            <a:off x="6261489" y="3317815"/>
            <a:ext cx="5892335" cy="2223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CuadroTexto 17"/>
          <p:cNvSpPr txBox="1"/>
          <p:nvPr/>
        </p:nvSpPr>
        <p:spPr>
          <a:xfrm>
            <a:off x="2642765" y="223970"/>
            <a:ext cx="6906469" cy="892552"/>
          </a:xfrm>
          <a:prstGeom prst="rect">
            <a:avLst/>
          </a:prstGeom>
          <a:noFill/>
        </p:spPr>
        <p:txBody>
          <a:bodyPr wrap="square" rtlCol="0">
            <a:spAutoFit/>
          </a:bodyPr>
          <a:lstStyle/>
          <a:p>
            <a:pPr algn="ctr"/>
            <a:r>
              <a:rPr lang="es-ES" sz="2400" dirty="0">
                <a:solidFill>
                  <a:schemeClr val="tx1">
                    <a:lumMod val="85000"/>
                    <a:lumOff val="15000"/>
                  </a:schemeClr>
                </a:solidFill>
                <a:latin typeface="Arial Black" panose="020B0A04020102020204" pitchFamily="34" charset="0"/>
              </a:rPr>
              <a:t>Correlación entre </a:t>
            </a:r>
            <a:r>
              <a:rPr lang="es-ES" sz="2800" dirty="0">
                <a:solidFill>
                  <a:schemeClr val="tx1">
                    <a:lumMod val="85000"/>
                    <a:lumOff val="15000"/>
                  </a:schemeClr>
                </a:solidFill>
                <a:latin typeface="Arial Black" panose="020B0A04020102020204" pitchFamily="34" charset="0"/>
              </a:rPr>
              <a:t>componentes</a:t>
            </a:r>
            <a:r>
              <a:rPr lang="es-ES" sz="2400" dirty="0">
                <a:solidFill>
                  <a:schemeClr val="tx1">
                    <a:lumMod val="85000"/>
                    <a:lumOff val="15000"/>
                  </a:schemeClr>
                </a:solidFill>
                <a:latin typeface="Arial Black" panose="020B0A04020102020204" pitchFamily="34" charset="0"/>
              </a:rPr>
              <a:t> principales y severidad</a:t>
            </a:r>
          </a:p>
        </p:txBody>
      </p:sp>
      <p:pic>
        <p:nvPicPr>
          <p:cNvPr id="20" name="Imagen 19"/>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495158"/>
            <a:ext cx="12192000" cy="2499615"/>
          </a:xfrm>
          <a:prstGeom prst="rect">
            <a:avLst/>
          </a:prstGeom>
        </p:spPr>
      </p:pic>
      <p:sp>
        <p:nvSpPr>
          <p:cNvPr id="21" name="CuadroTexto 20"/>
          <p:cNvSpPr txBox="1"/>
          <p:nvPr/>
        </p:nvSpPr>
        <p:spPr>
          <a:xfrm>
            <a:off x="245074" y="4487065"/>
            <a:ext cx="11701849" cy="646331"/>
          </a:xfrm>
          <a:prstGeom prst="rect">
            <a:avLst/>
          </a:prstGeom>
          <a:noFill/>
        </p:spPr>
        <p:txBody>
          <a:bodyPr wrap="square" rtlCol="0">
            <a:spAutoFit/>
          </a:bodyPr>
          <a:lstStyle/>
          <a:p>
            <a:pPr marL="285750" indent="-285750" algn="just">
              <a:buFont typeface="Wingdings" panose="05000000000000000000" pitchFamily="2" charset="2"/>
              <a:buChar char="v"/>
            </a:pPr>
            <a:r>
              <a:rPr lang="es-ES" dirty="0">
                <a:solidFill>
                  <a:schemeClr val="tx1">
                    <a:lumMod val="85000"/>
                    <a:lumOff val="15000"/>
                  </a:schemeClr>
                </a:solidFill>
                <a:latin typeface="Arial Black" panose="020B0A04020102020204" pitchFamily="34" charset="0"/>
              </a:rPr>
              <a:t>Los cinco componentes principales derivados de las variables climáticas presentan correlaciones muy débiles con la severidad de los accidentes (|r| &lt; 0.1)</a:t>
            </a:r>
          </a:p>
        </p:txBody>
      </p:sp>
      <p:sp>
        <p:nvSpPr>
          <p:cNvPr id="22" name="CuadroTexto 21"/>
          <p:cNvSpPr txBox="1"/>
          <p:nvPr/>
        </p:nvSpPr>
        <p:spPr>
          <a:xfrm>
            <a:off x="245075" y="5355765"/>
            <a:ext cx="11701849" cy="923330"/>
          </a:xfrm>
          <a:prstGeom prst="rect">
            <a:avLst/>
          </a:prstGeom>
          <a:noFill/>
        </p:spPr>
        <p:txBody>
          <a:bodyPr wrap="square" rtlCol="0">
            <a:spAutoFit/>
          </a:bodyPr>
          <a:lstStyle/>
          <a:p>
            <a:pPr marL="285750" indent="-285750" algn="just">
              <a:buFont typeface="Wingdings" panose="05000000000000000000" pitchFamily="2" charset="2"/>
              <a:buChar char="v"/>
            </a:pPr>
            <a:r>
              <a:rPr lang="es-ES" dirty="0">
                <a:solidFill>
                  <a:schemeClr val="tx1">
                    <a:lumMod val="85000"/>
                    <a:lumOff val="15000"/>
                  </a:schemeClr>
                </a:solidFill>
                <a:latin typeface="Arial Black" panose="020B0A04020102020204" pitchFamily="34" charset="0"/>
              </a:rPr>
              <a:t>Este resultado confirma que, aunque el PCA logra una reducción efectiva de 7 a 5 variables conservando aproximadamente 91% de la varianza total, las condiciones climáticas no son un factor determinante en la gravedad de los accidentes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931176" y="151002"/>
            <a:ext cx="10821800" cy="523220"/>
          </a:xfrm>
          <a:prstGeom prst="rect">
            <a:avLst/>
          </a:prstGeom>
          <a:noFill/>
        </p:spPr>
        <p:txBody>
          <a:bodyPr wrap="square" rtlCol="0">
            <a:spAutoFit/>
          </a:bodyPr>
          <a:lstStyle/>
          <a:p>
            <a:r>
              <a:rPr lang="es-ES" sz="2800" dirty="0" err="1">
                <a:solidFill>
                  <a:schemeClr val="tx1">
                    <a:lumMod val="85000"/>
                    <a:lumOff val="15000"/>
                  </a:schemeClr>
                </a:solidFill>
                <a:latin typeface="Arial Black" panose="020B0A04020102020204" pitchFamily="34" charset="0"/>
              </a:rPr>
              <a:t>Clustering</a:t>
            </a:r>
            <a:r>
              <a:rPr lang="es-ES" sz="2800" dirty="0">
                <a:solidFill>
                  <a:schemeClr val="tx1">
                    <a:lumMod val="85000"/>
                    <a:lumOff val="15000"/>
                  </a:schemeClr>
                </a:solidFill>
                <a:latin typeface="Arial Black" panose="020B0A04020102020204" pitchFamily="34" charset="0"/>
              </a:rPr>
              <a:t> de Accidentes: Método del Codo y K-Means</a:t>
            </a:r>
          </a:p>
        </p:txBody>
      </p:sp>
      <p:sp>
        <p:nvSpPr>
          <p:cNvPr id="5" name="CuadroTexto 4"/>
          <p:cNvSpPr txBox="1"/>
          <p:nvPr/>
        </p:nvSpPr>
        <p:spPr>
          <a:xfrm>
            <a:off x="429235" y="837936"/>
            <a:ext cx="11333529" cy="523220"/>
          </a:xfrm>
          <a:prstGeom prst="rect">
            <a:avLst/>
          </a:prstGeom>
          <a:noFill/>
        </p:spPr>
        <p:txBody>
          <a:bodyPr wrap="square" rtlCol="0">
            <a:spAutoFit/>
          </a:bodyPr>
          <a:lstStyle/>
          <a:p>
            <a:pPr algn="just"/>
            <a:r>
              <a:rPr lang="es-ES" sz="1400" dirty="0">
                <a:solidFill>
                  <a:schemeClr val="tx1">
                    <a:lumMod val="85000"/>
                    <a:lumOff val="15000"/>
                  </a:schemeClr>
                </a:solidFill>
                <a:latin typeface="Arial Black" panose="020B0A04020102020204" pitchFamily="34" charset="0"/>
              </a:rPr>
              <a:t>El método del codo se utilizó para determinar el número óptimo de clusters, evaluando la compactación mediante el score (−WCSS). </a:t>
            </a:r>
          </a:p>
        </p:txBody>
      </p:sp>
      <p:pic>
        <p:nvPicPr>
          <p:cNvPr id="9" name="Imagen 8"/>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5315" y="1361156"/>
            <a:ext cx="6174301" cy="5105185"/>
          </a:xfrm>
          <a:prstGeom prst="rect">
            <a:avLst/>
          </a:prstGeom>
        </p:spPr>
      </p:pic>
      <p:sp>
        <p:nvSpPr>
          <p:cNvPr id="10" name="CuadroTexto 9"/>
          <p:cNvSpPr txBox="1"/>
          <p:nvPr/>
        </p:nvSpPr>
        <p:spPr>
          <a:xfrm>
            <a:off x="6174297" y="2264464"/>
            <a:ext cx="5588467" cy="4524315"/>
          </a:xfrm>
          <a:prstGeom prst="rect">
            <a:avLst/>
          </a:prstGeom>
          <a:noFill/>
        </p:spPr>
        <p:txBody>
          <a:bodyPr wrap="square" rtlCol="0">
            <a:spAutoFit/>
          </a:bodyPr>
          <a:lstStyle/>
          <a:p>
            <a:pPr algn="just"/>
            <a:endParaRPr lang="es-ES" sz="1200" dirty="0">
              <a:solidFill>
                <a:schemeClr val="tx1">
                  <a:lumMod val="85000"/>
                  <a:lumOff val="15000"/>
                </a:schemeClr>
              </a:solidFill>
              <a:latin typeface="Arial Black" panose="020B0A04020102020204" pitchFamily="34" charset="0"/>
            </a:endParaRPr>
          </a:p>
          <a:p>
            <a:pPr marL="285750" indent="-285750" algn="just">
              <a:buFont typeface="Wingdings" panose="05000000000000000000" pitchFamily="2" charset="2"/>
              <a:buChar char="§"/>
            </a:pPr>
            <a:r>
              <a:rPr lang="es-ES" sz="1200" dirty="0">
                <a:solidFill>
                  <a:schemeClr val="tx1">
                    <a:lumMod val="85000"/>
                    <a:lumOff val="15000"/>
                  </a:schemeClr>
                </a:solidFill>
                <a:latin typeface="Arial Black" panose="020B0A04020102020204" pitchFamily="34" charset="0"/>
              </a:rPr>
              <a:t> El cluster 0 se caracteriza por una mayor severidad promedio, así como por una duración del evento relativamente elevada. Estos accidentes tienden a ocurrir alrededor del mediodía y presentan condiciones climáticas moderadas, con niveles medios de humedad y buena visibilidad. </a:t>
            </a:r>
          </a:p>
          <a:p>
            <a:pPr marL="285750" indent="-285750" algn="just">
              <a:buFont typeface="Wingdings" panose="05000000000000000000" pitchFamily="2" charset="2"/>
              <a:buChar char="§"/>
            </a:pPr>
            <a:r>
              <a:rPr lang="es-ES" sz="1200" dirty="0">
                <a:solidFill>
                  <a:schemeClr val="tx1">
                    <a:lumMod val="85000"/>
                    <a:lumOff val="15000"/>
                  </a:schemeClr>
                </a:solidFill>
                <a:latin typeface="Arial Black" panose="020B0A04020102020204" pitchFamily="34" charset="0"/>
              </a:rPr>
              <a:t>El cluster 3 agrupa accidentes de baja severidad, asociados a condiciones climáticas adversas, particularmente alta humedad y menor temperatura, junto con una visibilidad reducida. Estos eventos ocurren mayoritariamente durante las primeras horas del día.</a:t>
            </a:r>
          </a:p>
          <a:p>
            <a:pPr marL="285750" indent="-285750" algn="just">
              <a:buFont typeface="Wingdings" panose="05000000000000000000" pitchFamily="2" charset="2"/>
              <a:buChar char="§"/>
            </a:pPr>
            <a:r>
              <a:rPr lang="es-ES" sz="1200" dirty="0">
                <a:solidFill>
                  <a:schemeClr val="tx1">
                    <a:lumMod val="85000"/>
                    <a:lumOff val="15000"/>
                  </a:schemeClr>
                </a:solidFill>
                <a:latin typeface="Arial Black" panose="020B0A04020102020204" pitchFamily="34" charset="0"/>
              </a:rPr>
              <a:t>El cluster 1 corresponde a un conjunto de eventos atípicos, caracterizados por una duración extremadamente elevada en comparación con el resto de los clusters. Aunque su severidad promedio no es la más alta, la magnitud temporal de estos accidentes indica situaciones excepcionales, como cierres prolongados de vías o incidentes complejos. </a:t>
            </a:r>
          </a:p>
          <a:p>
            <a:pPr marL="285750" indent="-285750" algn="just">
              <a:buFont typeface="Wingdings" panose="05000000000000000000" pitchFamily="2" charset="2"/>
              <a:buChar char="§"/>
            </a:pPr>
            <a:r>
              <a:rPr lang="es-ES" sz="1200" dirty="0">
                <a:solidFill>
                  <a:schemeClr val="tx1">
                    <a:lumMod val="85000"/>
                    <a:lumOff val="15000"/>
                  </a:schemeClr>
                </a:solidFill>
                <a:latin typeface="Arial Black" panose="020B0A04020102020204" pitchFamily="34" charset="0"/>
              </a:rPr>
              <a:t>El cluster 2 representa el patrón más común de accidentes, con baja severidad promedio, alta visibilidad, temperaturas más elevadas y una mayor presencia de infraestructura vial. Estos eventos se concentran principalmente durante la tarde, lo que sugiere una relación con el tráfico urbano y horarios de alta circulación.</a:t>
            </a:r>
          </a:p>
        </p:txBody>
      </p:sp>
      <p:sp>
        <p:nvSpPr>
          <p:cNvPr id="11" name="CuadroTexto 10"/>
          <p:cNvSpPr txBox="1"/>
          <p:nvPr/>
        </p:nvSpPr>
        <p:spPr>
          <a:xfrm>
            <a:off x="6389616" y="1310357"/>
            <a:ext cx="5402509" cy="954107"/>
          </a:xfrm>
          <a:prstGeom prst="rect">
            <a:avLst/>
          </a:prstGeom>
          <a:noFill/>
        </p:spPr>
        <p:txBody>
          <a:bodyPr wrap="square" rtlCol="0">
            <a:spAutoFit/>
          </a:bodyPr>
          <a:lstStyle/>
          <a:p>
            <a:pPr algn="just"/>
            <a:r>
              <a:rPr lang="es-ES" sz="1400" dirty="0">
                <a:solidFill>
                  <a:schemeClr val="tx1">
                    <a:lumMod val="85000"/>
                    <a:lumOff val="15000"/>
                  </a:schemeClr>
                </a:solidFill>
                <a:latin typeface="Arial Black" panose="020B0A04020102020204" pitchFamily="34" charset="0"/>
              </a:rPr>
              <a:t>El algoritmo K-Means se aplicó con k = 4 sobre datos estandarizados, agrupando los accidentes en clusters con características homogéneas. La distribución resultante es desigual: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6465" y="262383"/>
            <a:ext cx="6747283" cy="4486105"/>
          </a:xfrm>
          <a:prstGeom prst="rect">
            <a:avLst/>
          </a:prstGeom>
        </p:spPr>
      </p:pic>
      <p:sp>
        <p:nvSpPr>
          <p:cNvPr id="6" name="CuadroTexto 5"/>
          <p:cNvSpPr txBox="1"/>
          <p:nvPr/>
        </p:nvSpPr>
        <p:spPr>
          <a:xfrm>
            <a:off x="215579" y="6084689"/>
            <a:ext cx="11579956" cy="523220"/>
          </a:xfrm>
          <a:prstGeom prst="rect">
            <a:avLst/>
          </a:prstGeom>
          <a:noFill/>
        </p:spPr>
        <p:txBody>
          <a:bodyPr wrap="square" rtlCol="0">
            <a:spAutoFit/>
          </a:bodyPr>
          <a:lstStyle/>
          <a:p>
            <a:pPr marL="285750" indent="-285750" algn="just">
              <a:buFont typeface="Arial" panose="020B0604020202020204" pitchFamily="34" charset="0"/>
              <a:buChar char="•"/>
            </a:pPr>
            <a:r>
              <a:rPr lang="es-ES" sz="1400" dirty="0">
                <a:solidFill>
                  <a:schemeClr val="tx1">
                    <a:lumMod val="85000"/>
                    <a:lumOff val="15000"/>
                  </a:schemeClr>
                </a:solidFill>
                <a:latin typeface="Arial Black" panose="020B0A04020102020204" pitchFamily="34" charset="0"/>
              </a:rPr>
              <a:t>Distribución de Temperatura: El Cluster 1 tiene la base más ancha en temperaturas bajas, lo que respalda su perfil asociado a condiciones climáticas más frías o matutinas.</a:t>
            </a:r>
          </a:p>
        </p:txBody>
      </p:sp>
      <p:sp>
        <p:nvSpPr>
          <p:cNvPr id="7" name="CuadroTexto 6"/>
          <p:cNvSpPr txBox="1"/>
          <p:nvPr/>
        </p:nvSpPr>
        <p:spPr>
          <a:xfrm>
            <a:off x="7391008" y="356316"/>
            <a:ext cx="4488417" cy="1169551"/>
          </a:xfrm>
          <a:prstGeom prst="rect">
            <a:avLst/>
          </a:prstGeom>
          <a:noFill/>
        </p:spPr>
        <p:txBody>
          <a:bodyPr wrap="square" rtlCol="0">
            <a:spAutoFit/>
          </a:bodyPr>
          <a:lstStyle/>
          <a:p>
            <a:pPr algn="just"/>
            <a:r>
              <a:rPr lang="es-ES" sz="1400" dirty="0">
                <a:solidFill>
                  <a:schemeClr val="tx1">
                    <a:lumMod val="85000"/>
                    <a:lumOff val="15000"/>
                  </a:schemeClr>
                </a:solidFill>
                <a:latin typeface="Arial Black" panose="020B0A04020102020204" pitchFamily="34" charset="0"/>
              </a:rPr>
              <a:t>La imagen muestra la distribución de variables clave por cluster mediante gráficos tipo violín, lo que permite visualizar la densidad y variabilidad interna de cada grupo:</a:t>
            </a:r>
          </a:p>
        </p:txBody>
      </p:sp>
      <p:sp>
        <p:nvSpPr>
          <p:cNvPr id="8" name="CuadroTexto 7"/>
          <p:cNvSpPr txBox="1"/>
          <p:nvPr/>
        </p:nvSpPr>
        <p:spPr>
          <a:xfrm>
            <a:off x="7382926" y="1626605"/>
            <a:ext cx="4412609" cy="1600438"/>
          </a:xfrm>
          <a:prstGeom prst="rect">
            <a:avLst/>
          </a:prstGeom>
          <a:noFill/>
        </p:spPr>
        <p:txBody>
          <a:bodyPr wrap="square" rtlCol="0">
            <a:spAutoFit/>
          </a:bodyPr>
          <a:lstStyle/>
          <a:p>
            <a:pPr marL="285750" indent="-285750" algn="just">
              <a:buFont typeface="Arial" panose="020B0604020202020204" pitchFamily="34" charset="0"/>
              <a:buChar char="•"/>
            </a:pPr>
            <a:r>
              <a:rPr lang="es-ES" sz="1400" dirty="0">
                <a:solidFill>
                  <a:schemeClr val="tx1">
                    <a:lumMod val="85000"/>
                    <a:lumOff val="15000"/>
                  </a:schemeClr>
                </a:solidFill>
                <a:latin typeface="Arial Black" panose="020B0A04020102020204" pitchFamily="34" charset="0"/>
              </a:rPr>
              <a:t>Distribución de Severidad: Es el gráfico más revelador. Confirma que el Cluster 0 es el único enfocado en accidentes de alta gravedad (niveles 3 y 4), mientras que los clusters 1, 2 y 3 están masivamente concentrados en la severidad 2</a:t>
            </a:r>
          </a:p>
        </p:txBody>
      </p:sp>
      <p:sp>
        <p:nvSpPr>
          <p:cNvPr id="9" name="CuadroTexto 8"/>
          <p:cNvSpPr txBox="1"/>
          <p:nvPr/>
        </p:nvSpPr>
        <p:spPr>
          <a:xfrm>
            <a:off x="7391008" y="3248626"/>
            <a:ext cx="4412609" cy="1384995"/>
          </a:xfrm>
          <a:prstGeom prst="rect">
            <a:avLst/>
          </a:prstGeom>
          <a:noFill/>
        </p:spPr>
        <p:txBody>
          <a:bodyPr wrap="square" rtlCol="0">
            <a:spAutoFit/>
          </a:bodyPr>
          <a:lstStyle/>
          <a:p>
            <a:pPr marL="285750" indent="-285750" algn="just">
              <a:buFont typeface="Arial" panose="020B0604020202020204" pitchFamily="34" charset="0"/>
              <a:buChar char="•"/>
            </a:pPr>
            <a:r>
              <a:rPr lang="es-ES" sz="1400" dirty="0">
                <a:solidFill>
                  <a:schemeClr val="tx1">
                    <a:lumMod val="85000"/>
                    <a:lumOff val="15000"/>
                  </a:schemeClr>
                </a:solidFill>
                <a:latin typeface="Arial Black" panose="020B0A04020102020204" pitchFamily="34" charset="0"/>
              </a:rPr>
              <a:t>Distribución de Humedad: El Cluster 3 se diferencia claramente por presentar los niveles de humedad más altos y constantes, lo que lo define como el perfil de accidentes en condiciones húmedas.</a:t>
            </a:r>
          </a:p>
        </p:txBody>
      </p:sp>
      <p:sp>
        <p:nvSpPr>
          <p:cNvPr id="10" name="CuadroTexto 9"/>
          <p:cNvSpPr txBox="1"/>
          <p:nvPr/>
        </p:nvSpPr>
        <p:spPr>
          <a:xfrm>
            <a:off x="215579" y="5346025"/>
            <a:ext cx="11579956" cy="738664"/>
          </a:xfrm>
          <a:prstGeom prst="rect">
            <a:avLst/>
          </a:prstGeom>
          <a:noFill/>
        </p:spPr>
        <p:txBody>
          <a:bodyPr wrap="square" rtlCol="0">
            <a:spAutoFit/>
          </a:bodyPr>
          <a:lstStyle/>
          <a:p>
            <a:pPr marL="285750" indent="-285750" algn="just">
              <a:buFont typeface="Arial" panose="020B0604020202020204" pitchFamily="34" charset="0"/>
              <a:buChar char="•"/>
            </a:pPr>
            <a:r>
              <a:rPr lang="es-ES" sz="1400" dirty="0">
                <a:solidFill>
                  <a:schemeClr val="tx1">
                    <a:lumMod val="85000"/>
                    <a:lumOff val="15000"/>
                  </a:schemeClr>
                </a:solidFill>
                <a:latin typeface="Arial Black" panose="020B0A04020102020204" pitchFamily="34" charset="0"/>
              </a:rPr>
              <a:t>Distribución de duración: Aquí vemos por qué el Cluster 2 es el de "eventos atípicos". Su "cola" es mucho más larga que las demás, lo que indica accidentes que bloquearon el tráfico por tiempos extremadamente prolongados.</a:t>
            </a:r>
          </a:p>
        </p:txBody>
      </p:sp>
      <p:sp>
        <p:nvSpPr>
          <p:cNvPr id="11" name="CuadroTexto 10"/>
          <p:cNvSpPr txBox="1"/>
          <p:nvPr/>
        </p:nvSpPr>
        <p:spPr>
          <a:xfrm>
            <a:off x="223661" y="4789568"/>
            <a:ext cx="11579956" cy="523220"/>
          </a:xfrm>
          <a:prstGeom prst="rect">
            <a:avLst/>
          </a:prstGeom>
          <a:noFill/>
        </p:spPr>
        <p:txBody>
          <a:bodyPr wrap="square" rtlCol="0">
            <a:spAutoFit/>
          </a:bodyPr>
          <a:lstStyle/>
          <a:p>
            <a:pPr marL="285750" indent="-285750" algn="just">
              <a:buFont typeface="Arial" panose="020B0604020202020204" pitchFamily="34" charset="0"/>
              <a:buChar char="•"/>
            </a:pPr>
            <a:r>
              <a:rPr lang="es-ES" sz="1400" dirty="0">
                <a:solidFill>
                  <a:schemeClr val="tx1">
                    <a:lumMod val="85000"/>
                    <a:lumOff val="15000"/>
                  </a:schemeClr>
                </a:solidFill>
                <a:latin typeface="Arial Black" panose="020B0A04020102020204" pitchFamily="34" charset="0"/>
              </a:rPr>
              <a:t>Distribución de Hora de Inicio: El Cluster 1 muestra un pico en las primeras horas de la mañana. El Cluster 0 (el más severo) ocurre predominantemente alrededor del mediodía y el Cluster 2 se inclina hacia la tarde-noche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ángulo 11"/>
          <p:cNvSpPr/>
          <p:nvPr/>
        </p:nvSpPr>
        <p:spPr>
          <a:xfrm>
            <a:off x="322968" y="4768652"/>
            <a:ext cx="11546064" cy="1890032"/>
          </a:xfrm>
          <a:prstGeom prst="rect">
            <a:avLst/>
          </a:prstGeom>
          <a:solidFill>
            <a:srgbClr val="13D3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Rectángulo 10"/>
          <p:cNvSpPr/>
          <p:nvPr/>
        </p:nvSpPr>
        <p:spPr>
          <a:xfrm>
            <a:off x="322968" y="2724224"/>
            <a:ext cx="11546064" cy="1890032"/>
          </a:xfrm>
          <a:prstGeom prst="rect">
            <a:avLst/>
          </a:prstGeom>
          <a:solidFill>
            <a:srgbClr val="FAB00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0" name="Rectángulo 9"/>
          <p:cNvSpPr/>
          <p:nvPr/>
        </p:nvSpPr>
        <p:spPr>
          <a:xfrm>
            <a:off x="322968" y="598721"/>
            <a:ext cx="11546064" cy="1971107"/>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CuadroTexto 3"/>
          <p:cNvSpPr txBox="1"/>
          <p:nvPr/>
        </p:nvSpPr>
        <p:spPr>
          <a:xfrm>
            <a:off x="1551964" y="75501"/>
            <a:ext cx="9404058" cy="523220"/>
          </a:xfrm>
          <a:prstGeom prst="rect">
            <a:avLst/>
          </a:prstGeom>
          <a:noFill/>
        </p:spPr>
        <p:txBody>
          <a:bodyPr wrap="square" rtlCol="0">
            <a:spAutoFit/>
          </a:bodyPr>
          <a:lstStyle/>
          <a:p>
            <a:r>
              <a:rPr lang="es-ES" sz="2800">
                <a:solidFill>
                  <a:schemeClr val="tx1">
                    <a:lumMod val="85000"/>
                    <a:lumOff val="15000"/>
                  </a:schemeClr>
                </a:solidFill>
                <a:latin typeface="Arial Black" panose="020B0A04020102020204" pitchFamily="34" charset="0"/>
              </a:rPr>
              <a:t>Respuestas a las Preguntas de Investigación</a:t>
            </a:r>
            <a:endParaRPr lang="es-ES" sz="2800" dirty="0">
              <a:solidFill>
                <a:schemeClr val="tx1">
                  <a:lumMod val="85000"/>
                  <a:lumOff val="15000"/>
                </a:schemeClr>
              </a:solidFill>
              <a:latin typeface="Arial Black" panose="020B0A04020102020204" pitchFamily="34" charset="0"/>
            </a:endParaRPr>
          </a:p>
        </p:txBody>
      </p:sp>
      <p:sp>
        <p:nvSpPr>
          <p:cNvPr id="5" name="CuadroTexto 4"/>
          <p:cNvSpPr txBox="1"/>
          <p:nvPr/>
        </p:nvSpPr>
        <p:spPr>
          <a:xfrm>
            <a:off x="477469" y="734841"/>
            <a:ext cx="11237061" cy="523220"/>
          </a:xfrm>
          <a:prstGeom prst="rect">
            <a:avLst/>
          </a:prstGeom>
          <a:noFill/>
        </p:spPr>
        <p:txBody>
          <a:bodyPr wrap="square" rtlCol="0">
            <a:spAutoFit/>
          </a:bodyPr>
          <a:lstStyle/>
          <a:p>
            <a:pPr algn="just"/>
            <a:r>
              <a:rPr lang="es-ES" sz="1400" dirty="0">
                <a:solidFill>
                  <a:schemeClr val="bg1"/>
                </a:solidFill>
                <a:latin typeface="Arial Black" panose="020B0A04020102020204" pitchFamily="34" charset="0"/>
              </a:rPr>
              <a:t>Pregunta 1: ¿Qué factores ambientales y temporales están más fuertemente asociados con la severidad de los accidentes de tráfico?</a:t>
            </a:r>
          </a:p>
        </p:txBody>
      </p:sp>
      <p:sp>
        <p:nvSpPr>
          <p:cNvPr id="6" name="CuadroTexto 5"/>
          <p:cNvSpPr txBox="1"/>
          <p:nvPr/>
        </p:nvSpPr>
        <p:spPr>
          <a:xfrm>
            <a:off x="477468" y="2844224"/>
            <a:ext cx="11237061" cy="523220"/>
          </a:xfrm>
          <a:prstGeom prst="rect">
            <a:avLst/>
          </a:prstGeom>
          <a:noFill/>
        </p:spPr>
        <p:txBody>
          <a:bodyPr wrap="square" rtlCol="0">
            <a:spAutoFit/>
          </a:bodyPr>
          <a:lstStyle/>
          <a:p>
            <a:pPr algn="just"/>
            <a:r>
              <a:rPr lang="es-ES" sz="1400" dirty="0">
                <a:solidFill>
                  <a:schemeClr val="bg1"/>
                </a:solidFill>
                <a:latin typeface="Arial Black" panose="020B0A04020102020204" pitchFamily="34" charset="0"/>
              </a:rPr>
              <a:t>Pregunta 2: ¿Existen patrones temporales significativos en la ocurrencia de accidentes (hora del día, día de la semana, estacionalidad)?</a:t>
            </a:r>
          </a:p>
        </p:txBody>
      </p:sp>
      <p:sp>
        <p:nvSpPr>
          <p:cNvPr id="7" name="CuadroTexto 6"/>
          <p:cNvSpPr txBox="1"/>
          <p:nvPr/>
        </p:nvSpPr>
        <p:spPr>
          <a:xfrm>
            <a:off x="477467" y="4856634"/>
            <a:ext cx="11237061" cy="523220"/>
          </a:xfrm>
          <a:prstGeom prst="rect">
            <a:avLst/>
          </a:prstGeom>
          <a:noFill/>
        </p:spPr>
        <p:txBody>
          <a:bodyPr wrap="square" rtlCol="0">
            <a:spAutoFit/>
          </a:bodyPr>
          <a:lstStyle/>
          <a:p>
            <a:pPr algn="just"/>
            <a:r>
              <a:rPr lang="es-ES" sz="1400" dirty="0">
                <a:solidFill>
                  <a:schemeClr val="bg1"/>
                </a:solidFill>
                <a:latin typeface="Arial Black" panose="020B0A04020102020204" pitchFamily="34" charset="0"/>
              </a:rPr>
              <a:t>Pregunta 3: ¿Cómo varían las características de los accidentes entre diferentes estados y condiciones climáticas?</a:t>
            </a:r>
          </a:p>
        </p:txBody>
      </p:sp>
      <p:sp>
        <p:nvSpPr>
          <p:cNvPr id="8" name="CuadroTexto 7"/>
          <p:cNvSpPr txBox="1"/>
          <p:nvPr/>
        </p:nvSpPr>
        <p:spPr>
          <a:xfrm>
            <a:off x="477469" y="1258061"/>
            <a:ext cx="11237061" cy="1383665"/>
          </a:xfrm>
          <a:prstGeom prst="rect">
            <a:avLst/>
          </a:prstGeom>
          <a:noFill/>
        </p:spPr>
        <p:txBody>
          <a:bodyPr wrap="square" rtlCol="0">
            <a:spAutoFit/>
          </a:bodyPr>
          <a:lstStyle/>
          <a:p>
            <a:pPr marL="285750" indent="-285750" algn="just">
              <a:buFont typeface="Wingdings" panose="05000000000000000000" pitchFamily="2" charset="2"/>
              <a:buChar char="§"/>
            </a:pPr>
            <a:r>
              <a:rPr lang="en-US" altLang="es-ES" sz="1400" dirty="0">
                <a:solidFill>
                  <a:schemeClr val="bg1"/>
                </a:solidFill>
                <a:latin typeface="Arial Black" panose="020B0A04020102020204" pitchFamily="34" charset="0"/>
              </a:rPr>
              <a:t>El mes</a:t>
            </a:r>
            <a:r>
              <a:rPr lang="es-ES" sz="1400" dirty="0">
                <a:solidFill>
                  <a:schemeClr val="bg1"/>
                </a:solidFill>
                <a:latin typeface="Arial Black" panose="020B0A04020102020204" pitchFamily="34" charset="0"/>
              </a:rPr>
              <a:t> es el factor dominante en la severidad de los accidentes</a:t>
            </a:r>
            <a:r>
              <a:rPr lang="en-US" altLang="es-ES" sz="1400" dirty="0">
                <a:solidFill>
                  <a:schemeClr val="bg1"/>
                </a:solidFill>
                <a:latin typeface="Arial Black" panose="020B0A04020102020204" pitchFamily="34" charset="0"/>
              </a:rPr>
              <a:t> </a:t>
            </a:r>
            <a:r>
              <a:rPr lang="en-US" altLang="en-US" sz="1400" dirty="0">
                <a:solidFill>
                  <a:schemeClr val="bg1"/>
                </a:solidFill>
                <a:latin typeface="Arial Black" panose="020B0A04020102020204" pitchFamily="34" charset="0"/>
              </a:rPr>
              <a:t>reflejando que los meses de mayor demanda y variabilidad climática concentran los mayores impactos</a:t>
            </a:r>
          </a:p>
          <a:p>
            <a:pPr marL="285750" indent="-285750" algn="just">
              <a:buFont typeface="Wingdings" panose="05000000000000000000" pitchFamily="2" charset="2"/>
              <a:buChar char="§"/>
            </a:pPr>
            <a:r>
              <a:rPr lang="es-ES" sz="1400" dirty="0">
                <a:solidFill>
                  <a:schemeClr val="bg1"/>
                </a:solidFill>
                <a:latin typeface="Arial Black" panose="020B0A04020102020204" pitchFamily="34" charset="0"/>
              </a:rPr>
              <a:t>La ubicación geográfica (estado)</a:t>
            </a:r>
            <a:r>
              <a:rPr lang="en-US" altLang="es-ES" sz="1400" dirty="0">
                <a:solidFill>
                  <a:schemeClr val="bg1"/>
                </a:solidFill>
                <a:latin typeface="Arial Black" panose="020B0A04020102020204" pitchFamily="34" charset="0"/>
              </a:rPr>
              <a:t> y la </a:t>
            </a:r>
            <a:r>
              <a:rPr lang="es-ES" sz="1400" dirty="0">
                <a:solidFill>
                  <a:schemeClr val="bg1"/>
                </a:solidFill>
                <a:latin typeface="Arial Black" panose="020B0A04020102020204" pitchFamily="34" charset="0"/>
                <a:sym typeface="+mn-ea"/>
              </a:rPr>
              <a:t>infraestructura vial (semáforos)</a:t>
            </a:r>
            <a:r>
              <a:rPr lang="en-US" altLang="es-ES" sz="1400" dirty="0">
                <a:solidFill>
                  <a:schemeClr val="bg1"/>
                </a:solidFill>
                <a:latin typeface="Arial Black" panose="020B0A04020102020204" pitchFamily="34" charset="0"/>
              </a:rPr>
              <a:t> conforman</a:t>
            </a:r>
            <a:r>
              <a:rPr lang="es-ES" sz="1400" dirty="0">
                <a:solidFill>
                  <a:schemeClr val="bg1"/>
                </a:solidFill>
                <a:latin typeface="Arial Black" panose="020B0A04020102020204" pitchFamily="34" charset="0"/>
              </a:rPr>
              <a:t> el segundo</a:t>
            </a:r>
            <a:r>
              <a:rPr lang="en-US" altLang="es-ES" sz="1400" dirty="0">
                <a:solidFill>
                  <a:schemeClr val="bg1"/>
                </a:solidFill>
                <a:latin typeface="Arial Black" panose="020B0A04020102020204" pitchFamily="34" charset="0"/>
              </a:rPr>
              <a:t> y tercer</a:t>
            </a:r>
            <a:r>
              <a:rPr lang="es-ES" sz="1400" dirty="0">
                <a:solidFill>
                  <a:schemeClr val="bg1"/>
                </a:solidFill>
                <a:latin typeface="Arial Black" panose="020B0A04020102020204" pitchFamily="34" charset="0"/>
              </a:rPr>
              <a:t> predictor</a:t>
            </a:r>
            <a:r>
              <a:rPr lang="en-US" altLang="es-ES" sz="1400" dirty="0">
                <a:solidFill>
                  <a:schemeClr val="bg1"/>
                </a:solidFill>
                <a:latin typeface="Arial Black" panose="020B0A04020102020204" pitchFamily="34" charset="0"/>
              </a:rPr>
              <a:t>es</a:t>
            </a:r>
            <a:r>
              <a:rPr lang="es-ES" sz="1400" dirty="0">
                <a:solidFill>
                  <a:schemeClr val="bg1"/>
                </a:solidFill>
                <a:latin typeface="Arial Black" panose="020B0A04020102020204" pitchFamily="34" charset="0"/>
              </a:rPr>
              <a:t> más importante</a:t>
            </a:r>
            <a:r>
              <a:rPr lang="en-US" altLang="es-ES" sz="1400" dirty="0">
                <a:solidFill>
                  <a:schemeClr val="bg1"/>
                </a:solidFill>
                <a:latin typeface="Arial Black" panose="020B0A04020102020204" pitchFamily="34" charset="0"/>
              </a:rPr>
              <a:t>s</a:t>
            </a:r>
            <a:r>
              <a:rPr lang="es-ES" sz="1400" dirty="0">
                <a:solidFill>
                  <a:schemeClr val="bg1"/>
                </a:solidFill>
                <a:latin typeface="Arial Black" panose="020B0A04020102020204" pitchFamily="34" charset="0"/>
              </a:rPr>
              <a:t>.</a:t>
            </a:r>
          </a:p>
          <a:p>
            <a:pPr marL="285750" indent="-285750" algn="just">
              <a:buFont typeface="Wingdings" panose="05000000000000000000" pitchFamily="2" charset="2"/>
              <a:buChar char="§"/>
            </a:pPr>
            <a:r>
              <a:rPr lang="es-ES" sz="1400" dirty="0">
                <a:solidFill>
                  <a:schemeClr val="bg1"/>
                </a:solidFill>
                <a:latin typeface="Arial Black" panose="020B0A04020102020204" pitchFamily="34" charset="0"/>
              </a:rPr>
              <a:t>El clima y el tiempo no predicen severidad por sí solos; actúan como factores moderadores dentro de contextos de infraestructura.</a:t>
            </a:r>
          </a:p>
        </p:txBody>
      </p:sp>
      <p:sp>
        <p:nvSpPr>
          <p:cNvPr id="13" name="CuadroTexto 12"/>
          <p:cNvSpPr txBox="1"/>
          <p:nvPr/>
        </p:nvSpPr>
        <p:spPr>
          <a:xfrm>
            <a:off x="477469" y="3379445"/>
            <a:ext cx="11237060" cy="1168400"/>
          </a:xfrm>
          <a:prstGeom prst="rect">
            <a:avLst/>
          </a:prstGeom>
          <a:noFill/>
        </p:spPr>
        <p:txBody>
          <a:bodyPr wrap="square" rtlCol="0">
            <a:spAutoFit/>
          </a:bodyPr>
          <a:lstStyle/>
          <a:p>
            <a:pPr marL="285750" indent="-285750" algn="just">
              <a:buFont typeface="Wingdings" panose="05000000000000000000" pitchFamily="2" charset="2"/>
              <a:buChar char="§"/>
            </a:pPr>
            <a:r>
              <a:rPr lang="es-ES" sz="1400" dirty="0">
                <a:solidFill>
                  <a:schemeClr val="bg1"/>
                </a:solidFill>
                <a:latin typeface="Arial Black" panose="020B0A04020102020204" pitchFamily="34" charset="0"/>
              </a:rPr>
              <a:t>Existen patrones temporales claros en la frecuencia de accidentes (horas pico, días laborales, estacionalidad).</a:t>
            </a:r>
          </a:p>
          <a:p>
            <a:pPr marL="285750" indent="-285750" algn="just">
              <a:buFont typeface="Wingdings" panose="05000000000000000000" pitchFamily="2" charset="2"/>
              <a:buChar char="§"/>
            </a:pPr>
            <a:r>
              <a:rPr lang="es-ES" sz="1400" dirty="0">
                <a:solidFill>
                  <a:schemeClr val="bg1"/>
                </a:solidFill>
                <a:latin typeface="Arial Black" panose="020B0A04020102020204" pitchFamily="34" charset="0"/>
              </a:rPr>
              <a:t>La influencia temporal en la severidad es secundaria y está mediada por el volumen de tráfico y la infraestructura.</a:t>
            </a:r>
          </a:p>
          <a:p>
            <a:pPr marL="285750" indent="-285750" algn="just">
              <a:buFont typeface="Wingdings" panose="05000000000000000000" pitchFamily="2" charset="2"/>
              <a:buChar char="§"/>
            </a:pPr>
            <a:r>
              <a:rPr lang="es-ES" sz="1400" dirty="0">
                <a:solidFill>
                  <a:schemeClr val="bg1"/>
                </a:solidFill>
                <a:latin typeface="Arial Black" panose="020B0A04020102020204" pitchFamily="34" charset="0"/>
              </a:rPr>
              <a:t>El tiempo explica cuándo ocurren los accidentes, no qué tan severos son.</a:t>
            </a:r>
          </a:p>
        </p:txBody>
      </p:sp>
      <p:sp>
        <p:nvSpPr>
          <p:cNvPr id="14" name="CuadroTexto 13"/>
          <p:cNvSpPr txBox="1"/>
          <p:nvPr/>
        </p:nvSpPr>
        <p:spPr>
          <a:xfrm>
            <a:off x="477467" y="5384495"/>
            <a:ext cx="11237060" cy="1169551"/>
          </a:xfrm>
          <a:prstGeom prst="rect">
            <a:avLst/>
          </a:prstGeom>
          <a:noFill/>
        </p:spPr>
        <p:txBody>
          <a:bodyPr wrap="square" rtlCol="0">
            <a:spAutoFit/>
          </a:bodyPr>
          <a:lstStyle/>
          <a:p>
            <a:pPr marL="285750" indent="-285750" algn="just">
              <a:buFont typeface="Wingdings" panose="05000000000000000000" pitchFamily="2" charset="2"/>
              <a:buChar char="§"/>
            </a:pPr>
            <a:r>
              <a:rPr lang="es-ES" sz="1400" dirty="0">
                <a:solidFill>
                  <a:schemeClr val="bg1"/>
                </a:solidFill>
                <a:latin typeface="Arial Black" panose="020B0A04020102020204" pitchFamily="34" charset="0"/>
              </a:rPr>
              <a:t>Hay fuertes diferencias regionales: el estado es uno de los predictores más importantes de severidad.</a:t>
            </a:r>
          </a:p>
          <a:p>
            <a:pPr marL="285750" indent="-285750" algn="just">
              <a:buFont typeface="Wingdings" panose="05000000000000000000" pitchFamily="2" charset="2"/>
              <a:buChar char="§"/>
            </a:pPr>
            <a:endParaRPr lang="es-ES" sz="1400" dirty="0">
              <a:solidFill>
                <a:schemeClr val="bg1"/>
              </a:solidFill>
              <a:latin typeface="Arial Black" panose="020B0A04020102020204" pitchFamily="34" charset="0"/>
            </a:endParaRPr>
          </a:p>
          <a:p>
            <a:pPr marL="285750" indent="-285750" algn="just">
              <a:buFont typeface="Wingdings" panose="05000000000000000000" pitchFamily="2" charset="2"/>
              <a:buChar char="§"/>
            </a:pPr>
            <a:r>
              <a:rPr lang="es-ES" sz="1400" dirty="0">
                <a:solidFill>
                  <a:schemeClr val="bg1"/>
                </a:solidFill>
                <a:latin typeface="Arial Black" panose="020B0A04020102020204" pitchFamily="34" charset="0"/>
              </a:rPr>
              <a:t>Las condiciones climáticas muestran efectos contextuales y no universales.</a:t>
            </a:r>
          </a:p>
          <a:p>
            <a:pPr marL="285750" indent="-285750" algn="just">
              <a:buFont typeface="Wingdings" panose="05000000000000000000" pitchFamily="2" charset="2"/>
              <a:buChar char="§"/>
            </a:pPr>
            <a:endParaRPr lang="es-ES" sz="1400" dirty="0">
              <a:solidFill>
                <a:schemeClr val="bg1"/>
              </a:solidFill>
              <a:latin typeface="Arial Black" panose="020B0A04020102020204" pitchFamily="34" charset="0"/>
            </a:endParaRPr>
          </a:p>
          <a:p>
            <a:pPr marL="285750" indent="-285750" algn="just">
              <a:buFont typeface="Wingdings" panose="05000000000000000000" pitchFamily="2" charset="2"/>
              <a:buChar char="§"/>
            </a:pPr>
            <a:r>
              <a:rPr lang="es-ES" sz="1400" dirty="0">
                <a:solidFill>
                  <a:schemeClr val="bg1"/>
                </a:solidFill>
                <a:latin typeface="Arial Black" panose="020B0A04020102020204" pitchFamily="34" charset="0"/>
              </a:rPr>
              <a:t>No existe una política de seguridad vial única: las intervenciones deben ser específicas por estado.</a:t>
            </a:r>
          </a:p>
        </p:txBody>
      </p:sp>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322</TotalTime>
  <Words>1632</Words>
  <Application>Microsoft Office PowerPoint</Application>
  <PresentationFormat>Panorámica</PresentationFormat>
  <Paragraphs>90</Paragraphs>
  <Slides>12</Slides>
  <Notes>0</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12</vt:i4>
      </vt:variant>
    </vt:vector>
  </HeadingPairs>
  <TitlesOfParts>
    <vt:vector size="19" baseType="lpstr">
      <vt:lpstr>Arial</vt:lpstr>
      <vt:lpstr>Arial Black</vt:lpstr>
      <vt:lpstr>Calibri</vt:lpstr>
      <vt:lpstr>Calibri Light</vt:lpstr>
      <vt:lpstr>Courier New</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Adriana Boue</dc:creator>
  <cp:lastModifiedBy>Adriana Boue</cp:lastModifiedBy>
  <cp:revision>41</cp:revision>
  <dcterms:created xsi:type="dcterms:W3CDTF">2026-01-11T22:37:00Z</dcterms:created>
  <dcterms:modified xsi:type="dcterms:W3CDTF">2026-01-19T22:55:09Z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77A27BD0CEA44E819DDD912BE994BFEB_12</vt:lpwstr>
  </property>
  <property fmtid="{D5CDD505-2E9C-101B-9397-08002B2CF9AE}" pid="3" name="KSOProductBuildVer">
    <vt:lpwstr>1033-12.2.0.23131</vt:lpwstr>
  </property>
</Properties>
</file>