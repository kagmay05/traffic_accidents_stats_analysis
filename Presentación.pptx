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65" r:id="rId5"/>
    <p:sldId id="258" r:id="rId6"/>
    <p:sldId id="259" r:id="rId7"/>
    <p:sldId id="260" r:id="rId8"/>
    <p:sldId id="261" r:id="rId9"/>
    <p:sldId id="262" r:id="rId10"/>
    <p:sldId id="263" r:id="rId11"/>
    <p:sldId id="266" r:id="rId12"/>
    <p:sldId id="267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B00A"/>
    <a:srgbClr val="FCAF04"/>
    <a:srgbClr val="13D313"/>
    <a:srgbClr val="255779"/>
    <a:srgbClr val="3274A1"/>
    <a:srgbClr val="6A1A6C"/>
    <a:srgbClr val="7C5378"/>
    <a:srgbClr val="2D223A"/>
    <a:srgbClr val="67001F"/>
    <a:srgbClr val="B404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1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" y="3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A7DF4B-A523-4A18-9D17-4DA18D324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EBC8C4C-4D3E-409D-8F18-5A8B990530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28845DD-7AE2-4AD2-A01D-0FF1C7140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11/01/2026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301B6F-2F78-47DF-BD3F-05DC3FE20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2F6CD-6BD7-4A39-AB26-7CB2C5395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9511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C8252C-2A2D-4AC9-A7B9-C9F5EA7D1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DAFE3C9-FF45-45A0-8FF1-BC4A3DAEE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FEB036D-698C-4563-BD89-79266A630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11/01/2026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D623297-56CF-4F09-9DB1-3B18DFFFF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6A811BF-C687-4B62-8AB0-43FE966F3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132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73D955-79D2-4640-B4A6-6BA9F7765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8CBF0D9-2766-47D0-93E0-88EBCE16E2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0926C9-CF08-4BC9-9275-9CDEDD83F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11/01/2026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7B916D-B03C-4396-9A99-E4CECD17C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7B7D5B-C56E-4E5F-B4D8-871EE484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90479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13D350-054B-42C8-9683-3AD7F99C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49865AA-CEB8-4983-83F4-258CD5D292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1DBA1B3-53E7-4E7B-82E7-10ADC7EF36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B446721-D4F6-447C-8FE9-A05373D4A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11/01/2026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68F6D11-9A8F-4EB6-BADA-6519B87E0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9770E71-BADF-4895-8A9D-6FC6526C1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6742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480E73-1B1A-4318-859C-8DE9AE214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690C52A-DF7B-4E01-B0B0-F6D3592526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E02969E-D843-4A24-92FE-CAC15CDD6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DF87644-4C20-4560-975B-52C44EAF6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F74174A-C7A3-44D7-A71A-23E7732F2A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C70A028-C9FF-4054-8A14-D45280264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11/01/2026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24283C-7853-44F8-A122-EA216235D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0D156FE-46F5-4703-8C80-A8EF714F1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0247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16A04F-4707-4D48-ABAD-6696D049E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05DEDC8-BA11-4750-9749-A9CE530A3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11/01/2026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65DF3A5-D82A-457D-B50D-F7B8C6C96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3898B7D-7D45-4D04-9EF8-A9284FE74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0351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B734735-A7C5-4994-B3B7-2AB4A311F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11/01/2026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D0EFEFF-9064-4A69-9BE5-0A3BE4B36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26733BA-BBDA-41C2-9CB8-706E56F55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057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4BA028-9BF0-4C69-8F2A-23582BAF7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F950B2-01EE-42AA-A7EB-0774AA3C46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60E2857-6EAD-49EE-933E-C945662B29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9D1A88B-7318-43A5-8C30-341D58AD4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11/01/2026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6F75C1-6452-4F5E-A509-90AF6248C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7E36146-0DD2-4DBF-80AC-EE609CAA2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0852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60B90B-B1B0-4F39-9AB3-9373F12DF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86DAA2B-6E2C-4492-976D-181DE88D30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262ADF6-5D79-4CC5-90A6-69543BFF20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3DA126A-A8C9-4621-AA4E-3CF51A189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11/01/2026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9B9047-359A-47A9-8278-4E5E0C69B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98651E0-40B1-478F-A342-FD2EAA50A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99047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2868EF-54CA-4EDF-9B7E-0A95F7458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4E58650-79B5-4EFA-BC89-4FC7184A44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6B036CB-79F9-44D8-AFE1-76A3E22D6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11/01/2026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CEFABE-A4A7-45E4-8F26-372D86850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22D7F8C-A3A1-49ED-AF41-0DAE04762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609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FACECB-C714-4DC0-A43A-F59871B22E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2CFE4AA-F56B-427B-8367-6C9FBC8171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DC82D1-07B1-4D94-9EF0-4CBDC623B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11/01/2026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D7B879-1D06-4857-BC0D-0B933E0FA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043B045-D329-4F56-A0EB-BC83F1B8D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44370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B60F57E-9E02-4179-9496-ABAE45A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24F7220-4BD5-450F-9D6F-ED9BCD3BC6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B5EF4A-A256-4262-B8FB-367949675E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EB4CCE-9E5C-4D7B-92E4-7FB210B21D7A}" type="datetimeFigureOut">
              <a:rPr lang="es-ES" smtClean="0"/>
              <a:t>11/01/2026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97CBED-7FBB-4853-872B-1B3F9A4ED0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DA89DC-29A6-4D59-A980-F7A783D38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97550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868BE85-3CB8-4F05-B851-C9F33FF86D6D}"/>
              </a:ext>
            </a:extLst>
          </p:cNvPr>
          <p:cNvSpPr/>
          <p:nvPr/>
        </p:nvSpPr>
        <p:spPr>
          <a:xfrm>
            <a:off x="9413160" y="695848"/>
            <a:ext cx="2538998" cy="2733152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CE9A5123-B8E8-447B-AE2D-330817E0945D}"/>
              </a:ext>
            </a:extLst>
          </p:cNvPr>
          <p:cNvSpPr/>
          <p:nvPr/>
        </p:nvSpPr>
        <p:spPr>
          <a:xfrm>
            <a:off x="6695205" y="695848"/>
            <a:ext cx="2538998" cy="2733152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5C2FC39-E9DC-46D8-AC43-73631DACBDA9}"/>
              </a:ext>
            </a:extLst>
          </p:cNvPr>
          <p:cNvSpPr/>
          <p:nvPr/>
        </p:nvSpPr>
        <p:spPr>
          <a:xfrm>
            <a:off x="3915871" y="695848"/>
            <a:ext cx="2538998" cy="2733152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14B768D-6924-4333-BC52-6B9CA5C18EF8}"/>
              </a:ext>
            </a:extLst>
          </p:cNvPr>
          <p:cNvSpPr/>
          <p:nvPr/>
        </p:nvSpPr>
        <p:spPr>
          <a:xfrm>
            <a:off x="-3636" y="0"/>
            <a:ext cx="369270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C47ACBD-E5F9-4147-8934-146D072D6524}"/>
              </a:ext>
            </a:extLst>
          </p:cNvPr>
          <p:cNvSpPr txBox="1"/>
          <p:nvPr/>
        </p:nvSpPr>
        <p:spPr>
          <a:xfrm>
            <a:off x="0" y="397973"/>
            <a:ext cx="373045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An</a:t>
            </a:r>
            <a:r>
              <a:rPr lang="es-ES" sz="3200" dirty="0">
                <a:solidFill>
                  <a:schemeClr val="bg1"/>
                </a:solidFill>
                <a:latin typeface="Arial Black" panose="020B0A04020102020204" pitchFamily="34" charset="0"/>
              </a:rPr>
              <a:t>álisis</a:t>
            </a: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 Estadístico de </a:t>
            </a:r>
            <a:r>
              <a:rPr lang="es-ES" sz="3200" dirty="0">
                <a:solidFill>
                  <a:schemeClr val="bg1"/>
                </a:solidFill>
                <a:latin typeface="Arial Black" panose="020B0A04020102020204" pitchFamily="34" charset="0"/>
              </a:rPr>
              <a:t>Accidentes</a:t>
            </a: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de </a:t>
            </a:r>
            <a:r>
              <a:rPr lang="es-ES" sz="3200" dirty="0">
                <a:solidFill>
                  <a:schemeClr val="bg1"/>
                </a:solidFill>
                <a:latin typeface="Arial Black" panose="020B0A04020102020204" pitchFamily="34" charset="0"/>
              </a:rPr>
              <a:t>Tráfico</a:t>
            </a: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 en Estados Unidos</a:t>
            </a:r>
            <a:endParaRPr lang="es-ES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7BFCC81-1A5A-4BE8-A449-976111595949}"/>
              </a:ext>
            </a:extLst>
          </p:cNvPr>
          <p:cNvSpPr txBox="1"/>
          <p:nvPr/>
        </p:nvSpPr>
        <p:spPr>
          <a:xfrm>
            <a:off x="229955" y="4521035"/>
            <a:ext cx="322552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dirty="0">
                <a:solidFill>
                  <a:schemeClr val="bg1"/>
                </a:solidFill>
                <a:latin typeface="Arial Black" panose="020B0A04020102020204" pitchFamily="34" charset="0"/>
              </a:rPr>
              <a:t>Enero 2026</a:t>
            </a:r>
          </a:p>
          <a:p>
            <a:pPr algn="ctr"/>
            <a:endParaRPr lang="es-ES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ctr"/>
            <a:r>
              <a:rPr lang="es-ES" sz="2000" dirty="0">
                <a:solidFill>
                  <a:schemeClr val="bg1"/>
                </a:solidFill>
                <a:latin typeface="Arial Black" panose="020B0A04020102020204" pitchFamily="34" charset="0"/>
              </a:rPr>
              <a:t>Kelen Alfaro García            Adriana Boué García       Carlos Mazorra Matos</a:t>
            </a:r>
          </a:p>
          <a:p>
            <a:pPr algn="ctr"/>
            <a:endParaRPr lang="es-ES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49013A6-6A46-47EF-B394-9A983697FE92}"/>
              </a:ext>
            </a:extLst>
          </p:cNvPr>
          <p:cNvSpPr txBox="1"/>
          <p:nvPr/>
        </p:nvSpPr>
        <p:spPr>
          <a:xfrm>
            <a:off x="5185370" y="136363"/>
            <a:ext cx="59688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Preguntas de Investigación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1ED1E95-50BF-4A97-BEBA-DE19710EE982}"/>
              </a:ext>
            </a:extLst>
          </p:cNvPr>
          <p:cNvSpPr txBox="1"/>
          <p:nvPr/>
        </p:nvSpPr>
        <p:spPr>
          <a:xfrm>
            <a:off x="3945298" y="905302"/>
            <a:ext cx="248564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solidFill>
                  <a:schemeClr val="bg1"/>
                </a:solidFill>
                <a:effectLst/>
                <a:latin typeface="Arial Black" panose="020B0A04020102020204" pitchFamily="34" charset="0"/>
              </a:rPr>
              <a:t>¿Qué factores ambientales y temporales están más fuertemente asociados con la severidad de los accidentes de tráfico?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D9330E4-12E4-414A-B579-4D876D367E90}"/>
              </a:ext>
            </a:extLst>
          </p:cNvPr>
          <p:cNvSpPr txBox="1"/>
          <p:nvPr/>
        </p:nvSpPr>
        <p:spPr>
          <a:xfrm>
            <a:off x="6721880" y="905302"/>
            <a:ext cx="24856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chemeClr val="bg1"/>
                </a:solidFill>
                <a:effectLst/>
                <a:latin typeface="Arial Black" panose="020B0A04020102020204" pitchFamily="34" charset="0"/>
              </a:rPr>
              <a:t>¿Existen patrones temporales significativos en la ocurrencia de accidentes (hora del día, día de la semana, estacionalidad)?</a:t>
            </a:r>
            <a:endParaRPr lang="es-ES" b="0" dirty="0">
              <a:solidFill>
                <a:schemeClr val="bg1"/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91D2EC4-9C01-44D8-8735-0934362AA4A1}"/>
              </a:ext>
            </a:extLst>
          </p:cNvPr>
          <p:cNvSpPr txBox="1"/>
          <p:nvPr/>
        </p:nvSpPr>
        <p:spPr>
          <a:xfrm>
            <a:off x="9325261" y="905302"/>
            <a:ext cx="27147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chemeClr val="bg1"/>
                </a:solidFill>
                <a:effectLst/>
                <a:latin typeface="Arial Black" panose="020B0A04020102020204" pitchFamily="34" charset="0"/>
              </a:rPr>
              <a:t>¿Cómo varían las características de los accidentes entre diferentes estados y condiciones climáticas?</a:t>
            </a:r>
            <a:endParaRPr lang="es-ES" b="0" dirty="0">
              <a:solidFill>
                <a:schemeClr val="bg1"/>
              </a:solidFill>
              <a:effectLst/>
              <a:latin typeface="Arial Black" panose="020B0A04020102020204" pitchFamily="34" charset="0"/>
            </a:endParaRPr>
          </a:p>
          <a:p>
            <a:pPr algn="ctr"/>
            <a:endParaRPr lang="es-ES" dirty="0">
              <a:solidFill>
                <a:schemeClr val="bg1"/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A60982F-D3BB-4056-885C-7C0D462AF8F7}"/>
              </a:ext>
            </a:extLst>
          </p:cNvPr>
          <p:cNvSpPr txBox="1"/>
          <p:nvPr/>
        </p:nvSpPr>
        <p:spPr>
          <a:xfrm>
            <a:off x="4432161" y="3829139"/>
            <a:ext cx="70650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Principales Variables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0891F70-8855-4797-97B0-83A89B687FAA}"/>
              </a:ext>
            </a:extLst>
          </p:cNvPr>
          <p:cNvSpPr txBox="1"/>
          <p:nvPr/>
        </p:nvSpPr>
        <p:spPr>
          <a:xfrm>
            <a:off x="4770112" y="4906132"/>
            <a:ext cx="1684757" cy="46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Temporales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227F6BA-5B03-4B4F-A210-52039DAEFE3A}"/>
              </a:ext>
            </a:extLst>
          </p:cNvPr>
          <p:cNvSpPr txBox="1"/>
          <p:nvPr/>
        </p:nvSpPr>
        <p:spPr>
          <a:xfrm>
            <a:off x="4783412" y="5342092"/>
            <a:ext cx="1671457" cy="46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Ubicación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BC9EA21A-9CDE-43C4-AE66-60C237B1A57B}"/>
              </a:ext>
            </a:extLst>
          </p:cNvPr>
          <p:cNvSpPr txBox="1"/>
          <p:nvPr/>
        </p:nvSpPr>
        <p:spPr>
          <a:xfrm>
            <a:off x="4791631" y="5906569"/>
            <a:ext cx="1499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Severidad 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DDEDB29-B65D-459D-B673-EA96F72D68B9}"/>
              </a:ext>
            </a:extLst>
          </p:cNvPr>
          <p:cNvSpPr txBox="1"/>
          <p:nvPr/>
        </p:nvSpPr>
        <p:spPr>
          <a:xfrm>
            <a:off x="4783413" y="6265451"/>
            <a:ext cx="3113022" cy="46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Distancia y Visibilidad 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4E5D72D2-534A-4476-B19A-9E488682A20C}"/>
              </a:ext>
            </a:extLst>
          </p:cNvPr>
          <p:cNvSpPr txBox="1"/>
          <p:nvPr/>
        </p:nvSpPr>
        <p:spPr>
          <a:xfrm>
            <a:off x="4781170" y="4417403"/>
            <a:ext cx="1964689" cy="46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r>
              <a:rPr kumimoji="0" lang="es-ES" altLang="es-ES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Identificación</a:t>
            </a:r>
            <a:r>
              <a:rPr kumimoji="0" lang="es-ES" altLang="es-ES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1" name="Gráfico 20" descr="Identificación de empleado con relleno sólido">
            <a:extLst>
              <a:ext uri="{FF2B5EF4-FFF2-40B4-BE49-F238E27FC236}">
                <a16:creationId xmlns:a16="http://schemas.microsoft.com/office/drawing/2014/main" id="{538D001A-C506-40E5-8850-3C0888DD23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94359" y="4420627"/>
            <a:ext cx="464744" cy="464744"/>
          </a:xfrm>
          <a:prstGeom prst="rect">
            <a:avLst/>
          </a:prstGeom>
        </p:spPr>
      </p:pic>
      <p:pic>
        <p:nvPicPr>
          <p:cNvPr id="22" name="Gráfico 21" descr="Calendario con relleno sólido">
            <a:extLst>
              <a:ext uri="{FF2B5EF4-FFF2-40B4-BE49-F238E27FC236}">
                <a16:creationId xmlns:a16="http://schemas.microsoft.com/office/drawing/2014/main" id="{F76EC155-5C7F-4E49-AE66-BD77242BCA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73701" y="4904740"/>
            <a:ext cx="517236" cy="437352"/>
          </a:xfrm>
          <a:prstGeom prst="rect">
            <a:avLst/>
          </a:prstGeom>
        </p:spPr>
      </p:pic>
      <p:pic>
        <p:nvPicPr>
          <p:cNvPr id="23" name="Gráfico 22" descr="Visión baja con relleno sólido">
            <a:extLst>
              <a:ext uri="{FF2B5EF4-FFF2-40B4-BE49-F238E27FC236}">
                <a16:creationId xmlns:a16="http://schemas.microsoft.com/office/drawing/2014/main" id="{1466738C-393E-4A92-91D6-8AD0F4203D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68401" y="6265451"/>
            <a:ext cx="516659" cy="516659"/>
          </a:xfrm>
          <a:prstGeom prst="rect">
            <a:avLst/>
          </a:prstGeom>
        </p:spPr>
      </p:pic>
      <p:pic>
        <p:nvPicPr>
          <p:cNvPr id="24" name="Gráfico 23" descr="Marcador con relleno sólido">
            <a:extLst>
              <a:ext uri="{FF2B5EF4-FFF2-40B4-BE49-F238E27FC236}">
                <a16:creationId xmlns:a16="http://schemas.microsoft.com/office/drawing/2014/main" id="{C327B5E8-DC47-4308-8D58-4EF1FF86715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17404" y="5371046"/>
            <a:ext cx="646149" cy="465344"/>
          </a:xfrm>
          <a:prstGeom prst="rect">
            <a:avLst/>
          </a:prstGeom>
        </p:spPr>
      </p:pic>
      <p:pic>
        <p:nvPicPr>
          <p:cNvPr id="25" name="Gráfico 24" descr="Cráneo con relleno sólido">
            <a:extLst>
              <a:ext uri="{FF2B5EF4-FFF2-40B4-BE49-F238E27FC236}">
                <a16:creationId xmlns:a16="http://schemas.microsoft.com/office/drawing/2014/main" id="{DBE99E71-39F7-47AB-A04A-F14BB930AF0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168401" y="5813000"/>
            <a:ext cx="516659" cy="452451"/>
          </a:xfrm>
          <a:prstGeom prst="rect">
            <a:avLst/>
          </a:prstGeom>
        </p:spPr>
      </p:pic>
      <p:pic>
        <p:nvPicPr>
          <p:cNvPr id="26" name="Gráfico 25" descr="Nube con relleno sólido">
            <a:extLst>
              <a:ext uri="{FF2B5EF4-FFF2-40B4-BE49-F238E27FC236}">
                <a16:creationId xmlns:a16="http://schemas.microsoft.com/office/drawing/2014/main" id="{B7936C1F-B408-46F8-A2B7-26EC7694A9E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59409" y="4376442"/>
            <a:ext cx="546664" cy="546664"/>
          </a:xfrm>
          <a:prstGeom prst="rect">
            <a:avLst/>
          </a:prstGeom>
        </p:spPr>
      </p:pic>
      <p:pic>
        <p:nvPicPr>
          <p:cNvPr id="27" name="Gráfico 26" descr="Portapapeles con relleno sólido">
            <a:extLst>
              <a:ext uri="{FF2B5EF4-FFF2-40B4-BE49-F238E27FC236}">
                <a16:creationId xmlns:a16="http://schemas.microsoft.com/office/drawing/2014/main" id="{006711ED-8FE6-4D95-AB9B-5E91D961638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113360" y="5865475"/>
            <a:ext cx="473267" cy="416818"/>
          </a:xfrm>
          <a:prstGeom prst="rect">
            <a:avLst/>
          </a:prstGeom>
        </p:spPr>
      </p:pic>
      <p:pic>
        <p:nvPicPr>
          <p:cNvPr id="28" name="Gráfico 27" descr="Señal de negación con relleno sólido">
            <a:extLst>
              <a:ext uri="{FF2B5EF4-FFF2-40B4-BE49-F238E27FC236}">
                <a16:creationId xmlns:a16="http://schemas.microsoft.com/office/drawing/2014/main" id="{19F09D62-9E86-45A8-91F3-4CFBB43B40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126112" y="4903201"/>
            <a:ext cx="399867" cy="399867"/>
          </a:xfrm>
          <a:prstGeom prst="rect">
            <a:avLst/>
          </a:prstGeom>
        </p:spPr>
      </p:pic>
      <p:pic>
        <p:nvPicPr>
          <p:cNvPr id="29" name="Gráfico 28" descr="Do con relleno sólido">
            <a:extLst>
              <a:ext uri="{FF2B5EF4-FFF2-40B4-BE49-F238E27FC236}">
                <a16:creationId xmlns:a16="http://schemas.microsoft.com/office/drawing/2014/main" id="{9B54F5AD-A591-486F-8858-E436BD830FB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096107" y="5347638"/>
            <a:ext cx="473267" cy="473267"/>
          </a:xfrm>
          <a:prstGeom prst="rect">
            <a:avLst/>
          </a:prstGeom>
        </p:spPr>
      </p:pic>
      <p:sp>
        <p:nvSpPr>
          <p:cNvPr id="30" name="Rectangle 1">
            <a:extLst>
              <a:ext uri="{FF2B5EF4-FFF2-40B4-BE49-F238E27FC236}">
                <a16:creationId xmlns:a16="http://schemas.microsoft.com/office/drawing/2014/main" id="{E42DAD25-20DA-44F9-A37E-900803AD508F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8732446" y="5800708"/>
            <a:ext cx="3202825" cy="4647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Descripción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 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4C4174A8-6E04-47D1-98B5-FE515E6E5622}"/>
              </a:ext>
            </a:extLst>
          </p:cNvPr>
          <p:cNvSpPr txBox="1"/>
          <p:nvPr/>
        </p:nvSpPr>
        <p:spPr>
          <a:xfrm>
            <a:off x="8732445" y="4417403"/>
            <a:ext cx="3202826" cy="46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Clima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 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112AD27-30F7-4F67-A291-52BAFC99ED56}"/>
              </a:ext>
            </a:extLst>
          </p:cNvPr>
          <p:cNvSpPr txBox="1"/>
          <p:nvPr/>
        </p:nvSpPr>
        <p:spPr>
          <a:xfrm>
            <a:off x="8732445" y="4972095"/>
            <a:ext cx="2749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Infraestructura Vial </a:t>
            </a: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C76ACB1E-9566-43C0-BE41-A0691C6DDBF2}"/>
              </a:ext>
            </a:extLst>
          </p:cNvPr>
          <p:cNvSpPr txBox="1"/>
          <p:nvPr/>
        </p:nvSpPr>
        <p:spPr>
          <a:xfrm>
            <a:off x="8710523" y="5353407"/>
            <a:ext cx="2106277" cy="46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Periodo del Día 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6705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C57BD286-92B9-4122-A9B4-AAE0E76B515D}"/>
              </a:ext>
            </a:extLst>
          </p:cNvPr>
          <p:cNvSpPr/>
          <p:nvPr/>
        </p:nvSpPr>
        <p:spPr>
          <a:xfrm>
            <a:off x="0" y="738231"/>
            <a:ext cx="12192000" cy="3889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EF26EFA-6BA3-43BE-A7C4-4D89DF71DC2C}"/>
              </a:ext>
            </a:extLst>
          </p:cNvPr>
          <p:cNvSpPr txBox="1"/>
          <p:nvPr/>
        </p:nvSpPr>
        <p:spPr>
          <a:xfrm>
            <a:off x="2104373" y="215011"/>
            <a:ext cx="11047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Severidad y Clima: Resultados del Análisis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7B7F17DF-95D9-4091-AA62-BB305DAC3A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890" y="738231"/>
            <a:ext cx="4994694" cy="3889331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DE24E2BF-1DB0-4DE4-AC4C-35E2E09DF6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473" y="1056818"/>
            <a:ext cx="6553926" cy="3570744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9ECE971D-23A4-458A-8EFF-F39C0163F3BA}"/>
              </a:ext>
            </a:extLst>
          </p:cNvPr>
          <p:cNvSpPr txBox="1"/>
          <p:nvPr/>
        </p:nvSpPr>
        <p:spPr>
          <a:xfrm>
            <a:off x="212255" y="4946149"/>
            <a:ext cx="11767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mapa de calor de correlaciones confirma que la severidad tiene correlaciones muy bajas con variables climáticas y de distancia (|r| &lt; 0.1)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B8EFFD56-DD86-425F-A571-4AB1031A51E0}"/>
              </a:ext>
            </a:extLst>
          </p:cNvPr>
          <p:cNvSpPr txBox="1"/>
          <p:nvPr/>
        </p:nvSpPr>
        <p:spPr>
          <a:xfrm>
            <a:off x="212255" y="5530924"/>
            <a:ext cx="1176749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La gráfica de severidad por las 8 condiciones climáticas más frecuentes muestra que la mediana de severidad se mantiene en nivel 2 para todas las condiciones. No se observan diferencias sustanciales entre condiciones como "Fair", "Cloudy", "Rain" u otras, lo que indica que el tipo de clima registrado no discrimina significativamente la gravedad del accidente</a:t>
            </a:r>
          </a:p>
        </p:txBody>
      </p:sp>
    </p:spTree>
    <p:extLst>
      <p:ext uri="{BB962C8B-B14F-4D97-AF65-F5344CB8AC3E}">
        <p14:creationId xmlns:p14="http://schemas.microsoft.com/office/powerpoint/2010/main" val="1217628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8155C9C-5B53-48F7-9CB9-11BEDFA25C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692" y="679504"/>
            <a:ext cx="5551428" cy="2984844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E9ADFC7-69D4-4686-BD0A-D34FA7BA9F45}"/>
              </a:ext>
            </a:extLst>
          </p:cNvPr>
          <p:cNvSpPr txBox="1"/>
          <p:nvPr/>
        </p:nvSpPr>
        <p:spPr>
          <a:xfrm>
            <a:off x="2445401" y="156284"/>
            <a:ext cx="7664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Severidad-Hora y Severidad-Ubicaci</a:t>
            </a:r>
            <a:r>
              <a:rPr lang="es-E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ón</a:t>
            </a:r>
            <a:endParaRPr lang="es-ES" sz="28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498A86D-783C-441D-BC92-51FB76505F0F}"/>
              </a:ext>
            </a:extLst>
          </p:cNvPr>
          <p:cNvSpPr txBox="1"/>
          <p:nvPr/>
        </p:nvSpPr>
        <p:spPr>
          <a:xfrm>
            <a:off x="159333" y="820741"/>
            <a:ext cx="591269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conteo de accidentes por hora revela un patrón claramente asociado a los ciclos de actividad vehicular diaria. Se identifican dos picos principales:</a:t>
            </a:r>
          </a:p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 - Pico matutino (6:00 - 9:00): Corresponde a las horas de desplazamiento hacia el trabajo y escuelas.</a:t>
            </a:r>
          </a:p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 - Pico vespertino (15:00 - 18:00): Coincide con el regreso a casa y la salida de actividades laborales.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D3916BC-8D87-49C9-AB2D-073E7B5F796F}"/>
              </a:ext>
            </a:extLst>
          </p:cNvPr>
          <p:cNvSpPr txBox="1"/>
          <p:nvPr/>
        </p:nvSpPr>
        <p:spPr>
          <a:xfrm>
            <a:off x="214210" y="2300807"/>
            <a:ext cx="59057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- La severidad 2 domina en todas las horas, manteniendo el patrón general del dataset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3FF7C82-7B35-4B5A-A3E6-FE33104162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93" y="2890017"/>
            <a:ext cx="5305693" cy="3940257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959F95FB-B65E-4CC0-8D6E-1220C7FE8A82}"/>
              </a:ext>
            </a:extLst>
          </p:cNvPr>
          <p:cNvSpPr txBox="1"/>
          <p:nvPr/>
        </p:nvSpPr>
        <p:spPr>
          <a:xfrm>
            <a:off x="6072029" y="4162855"/>
            <a:ext cx="592481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- La severidad promedio se mantiene cercana al nivel 2 en todos los estados, consistente con el patrón general del dataset.</a:t>
            </a:r>
          </a:p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 - Sin embargo, existen variaciones notables: algunos estados muestran severidad promedio ligeramente superior (más cerca de 2.3-2.4) mientras otros están más cerca de 2.0.</a:t>
            </a:r>
          </a:p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 - No hay una correlación directa entre el volumen de accidentes y la severidad promedio. Por ejemplo, California tiene muchos accidentes pero no necesariamente la mayor severidad promedio</a:t>
            </a:r>
          </a:p>
        </p:txBody>
      </p:sp>
    </p:spTree>
    <p:extLst>
      <p:ext uri="{BB962C8B-B14F-4D97-AF65-F5344CB8AC3E}">
        <p14:creationId xmlns:p14="http://schemas.microsoft.com/office/powerpoint/2010/main" val="3279125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B3A158D4-47B0-48D3-B9EF-3780CF7EEA56}"/>
              </a:ext>
            </a:extLst>
          </p:cNvPr>
          <p:cNvSpPr/>
          <p:nvPr/>
        </p:nvSpPr>
        <p:spPr>
          <a:xfrm>
            <a:off x="0" y="0"/>
            <a:ext cx="6887361" cy="68789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A0DE006-3DBF-4702-9120-E7E3DA038E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41" y="990172"/>
            <a:ext cx="5221234" cy="400508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6840CB5E-C69C-457E-90D6-4A79A9C4F81D}"/>
              </a:ext>
            </a:extLst>
          </p:cNvPr>
          <p:cNvSpPr txBox="1"/>
          <p:nvPr/>
        </p:nvSpPr>
        <p:spPr>
          <a:xfrm>
            <a:off x="230454" y="126106"/>
            <a:ext cx="6820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chemeClr val="bg1"/>
                </a:solidFill>
                <a:latin typeface="Arial Black" panose="020B0A04020102020204" pitchFamily="34" charset="0"/>
              </a:rPr>
              <a:t>Relación entre Severidad y Duración 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BECB9EA-7037-4A56-B40A-741289871666}"/>
              </a:ext>
            </a:extLst>
          </p:cNvPr>
          <p:cNvSpPr txBox="1"/>
          <p:nvPr/>
        </p:nvSpPr>
        <p:spPr>
          <a:xfrm>
            <a:off x="5553512" y="751344"/>
            <a:ext cx="6550647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Observaciones principales</a:t>
            </a:r>
          </a:p>
          <a:p>
            <a:pPr algn="just"/>
            <a:endParaRPr lang="es-ES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algn="just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- Tendencia creciente: A medida que aumenta el nivel de severidad, la duración mediana del accidente también incrementa. Los accidentes de severidad 4 tienen una duración notablemente mayor que los de severidad 1 o 2.</a:t>
            </a:r>
          </a:p>
          <a:p>
            <a:pPr algn="just"/>
            <a:endParaRPr lang="es-ES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algn="just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- Mayor dispersión en severidades altas: Los accidentes más graves (severidad 3 y 4) muestran cajas más amplias y bigotes más extensos, indicando mayor variabilidad en los tiempos de resolución.</a:t>
            </a:r>
          </a:p>
          <a:p>
            <a:pPr algn="just"/>
            <a:endParaRPr lang="es-ES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algn="just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- Outliers en todos los niveles: Se observan valores atípicos en todas las categorías, pero son más frecuentes y extremos en severidades bajas, posiblemente debido al mayor volumen de datos en esas categorías.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15F2245-0C66-4FF2-AD0E-BEB6C6E99ADA}"/>
              </a:ext>
            </a:extLst>
          </p:cNvPr>
          <p:cNvSpPr txBox="1"/>
          <p:nvPr/>
        </p:nvSpPr>
        <p:spPr>
          <a:xfrm>
            <a:off x="87840" y="5131456"/>
            <a:ext cx="534831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NOTA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: </a:t>
            </a: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La duración en este dataset representa el tiempo que el incidente afectó el tráfico (desde `Start Time` hasta `End Time`), no necesariamente la gravedad de las lesiones. Por ello, esta variable podría considerarse más como una **consecuencia de la severidad** que como un predictor independiente</a:t>
            </a:r>
          </a:p>
        </p:txBody>
      </p:sp>
    </p:spTree>
    <p:extLst>
      <p:ext uri="{BB962C8B-B14F-4D97-AF65-F5344CB8AC3E}">
        <p14:creationId xmlns:p14="http://schemas.microsoft.com/office/powerpoint/2010/main" val="511660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84D0AD3E-C8E1-4043-A2F0-284C4F168F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271" y="737019"/>
            <a:ext cx="6644080" cy="4350774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4DE7491-C3D1-4803-8873-3F90014CB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668" y="737710"/>
            <a:ext cx="5002935" cy="425438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60BDEAA-FCB8-48C2-A38B-798A653DEACF}"/>
              </a:ext>
            </a:extLst>
          </p:cNvPr>
          <p:cNvSpPr txBox="1"/>
          <p:nvPr/>
        </p:nvSpPr>
        <p:spPr>
          <a:xfrm>
            <a:off x="1906530" y="86879"/>
            <a:ext cx="8483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Árbol de Decisión, Resultados del Modelo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2AD3073-FE99-42C0-9955-C8E48700A0E9}"/>
              </a:ext>
            </a:extLst>
          </p:cNvPr>
          <p:cNvSpPr txBox="1"/>
          <p:nvPr/>
        </p:nvSpPr>
        <p:spPr>
          <a:xfrm>
            <a:off x="162961" y="4902317"/>
            <a:ext cx="252229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es-ES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Exactitud: 77.9%</a:t>
            </a:r>
            <a:endParaRPr lang="es-ES" sz="16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1F281FE-D55B-4CCD-A6A4-BA901175659E}"/>
              </a:ext>
            </a:extLst>
          </p:cNvPr>
          <p:cNvSpPr txBox="1"/>
          <p:nvPr/>
        </p:nvSpPr>
        <p:spPr>
          <a:xfrm>
            <a:off x="162961" y="5535515"/>
            <a:ext cx="118660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Logró identificar algunos casos de las clases minoritarias (Severidades 1 y 3), aunque con baja precisión debido al fuerte desbalance de los datos.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4C2D0CA-7B32-403F-9178-D62849D59631}"/>
              </a:ext>
            </a:extLst>
          </p:cNvPr>
          <p:cNvSpPr txBox="1"/>
          <p:nvPr/>
        </p:nvSpPr>
        <p:spPr>
          <a:xfrm>
            <a:off x="162961" y="6137935"/>
            <a:ext cx="118973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Factores Principales (Top 3):</a:t>
            </a: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 Identificó </a:t>
            </a:r>
            <a:r>
              <a:rPr kumimoji="0" lang="es-ES" sz="16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Condición Climática</a:t>
            </a: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, </a:t>
            </a:r>
            <a:r>
              <a:rPr kumimoji="0" lang="es-ES" sz="16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Estado</a:t>
            </a: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 y </a:t>
            </a:r>
            <a:r>
              <a:rPr kumimoji="0" lang="es-ES" sz="16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Presencia de Semáforo</a:t>
            </a: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 como las variables más importantes para dividir los datos.</a:t>
            </a:r>
          </a:p>
        </p:txBody>
      </p:sp>
    </p:spTree>
    <p:extLst>
      <p:ext uri="{BB962C8B-B14F-4D97-AF65-F5344CB8AC3E}">
        <p14:creationId xmlns:p14="http://schemas.microsoft.com/office/powerpoint/2010/main" val="6855875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760BDEAA-FCB8-48C2-A38B-798A653DEACF}"/>
              </a:ext>
            </a:extLst>
          </p:cNvPr>
          <p:cNvSpPr txBox="1"/>
          <p:nvPr/>
        </p:nvSpPr>
        <p:spPr>
          <a:xfrm>
            <a:off x="1906530" y="86879"/>
            <a:ext cx="8483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Random Forest, Resultados del Modelo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2AD3073-FE99-42C0-9955-C8E48700A0E9}"/>
              </a:ext>
            </a:extLst>
          </p:cNvPr>
          <p:cNvSpPr txBox="1"/>
          <p:nvPr/>
        </p:nvSpPr>
        <p:spPr>
          <a:xfrm>
            <a:off x="162961" y="4902317"/>
            <a:ext cx="252229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es-ES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Exactitud: 77.7%</a:t>
            </a:r>
            <a:endParaRPr lang="es-ES" sz="16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1F281FE-D55B-4CCD-A6A4-BA901175659E}"/>
              </a:ext>
            </a:extLst>
          </p:cNvPr>
          <p:cNvSpPr txBox="1"/>
          <p:nvPr/>
        </p:nvSpPr>
        <p:spPr>
          <a:xfrm>
            <a:off x="162961" y="5535515"/>
            <a:ext cx="118660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Comportamiento: Maximiza la estabilidad enfocándose casi exclusivamente en la clase mayoritaria (Severidad 2), ignorando casi por completo las clases raras para evitar falsos positivos ruidosos.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4C2D0CA-7B32-403F-9178-D62849D59631}"/>
              </a:ext>
            </a:extLst>
          </p:cNvPr>
          <p:cNvSpPr txBox="1"/>
          <p:nvPr/>
        </p:nvSpPr>
        <p:spPr>
          <a:xfrm>
            <a:off x="162961" y="6137935"/>
            <a:ext cx="118973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Jerarquía de Riesgo: Confirma que la Infraestructura Física (Semáforos, Cruces, Señales de Alto) domina sobre las condiciones temporales como predictor de severidad.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4257077-2600-4359-9FD3-0F31D24EAA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667" y="761694"/>
            <a:ext cx="5076897" cy="43172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9BCAD4B-EC08-4AD3-8E61-2DCDA87B70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4231" y="740708"/>
            <a:ext cx="6516080" cy="432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915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F950E492-DD1B-4C19-94F6-BEE41D8887D6}"/>
              </a:ext>
            </a:extLst>
          </p:cNvPr>
          <p:cNvSpPr txBox="1"/>
          <p:nvPr/>
        </p:nvSpPr>
        <p:spPr>
          <a:xfrm>
            <a:off x="2122415" y="117447"/>
            <a:ext cx="89929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Comparación y Conclusiones Estratégicas</a:t>
            </a:r>
            <a:endParaRPr lang="es-ES" sz="28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3429452-A987-44E9-A564-E2F666CAE4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340528"/>
            <a:ext cx="12192001" cy="4517472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5B967E2B-F6C3-4ADC-A3ED-4B8A08D2BAA5}"/>
              </a:ext>
            </a:extLst>
          </p:cNvPr>
          <p:cNvSpPr txBox="1"/>
          <p:nvPr/>
        </p:nvSpPr>
        <p:spPr>
          <a:xfrm>
            <a:off x="310393" y="721453"/>
            <a:ext cx="54947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Ambos modelos tienen una exactitud similar (~78%), pero Random Forest es más confiable para un entorno crítico de seguridad vial porque sus predicciones son más estables ante datos nuevos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FF07579-2130-4527-A314-5D211C5AF582}"/>
              </a:ext>
            </a:extLst>
          </p:cNvPr>
          <p:cNvSpPr txBox="1"/>
          <p:nvPr/>
        </p:nvSpPr>
        <p:spPr>
          <a:xfrm>
            <a:off x="6238613" y="738231"/>
            <a:ext cx="54947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Árbol de Decisión es útil para explicar por qué ocurren los accidentes, mientras que el Random Forest es mejor para predecir con confianza</a:t>
            </a:r>
          </a:p>
        </p:txBody>
      </p:sp>
    </p:spTree>
    <p:extLst>
      <p:ext uri="{BB962C8B-B14F-4D97-AF65-F5344CB8AC3E}">
        <p14:creationId xmlns:p14="http://schemas.microsoft.com/office/powerpoint/2010/main" val="4062437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n 17">
            <a:extLst>
              <a:ext uri="{FF2B5EF4-FFF2-40B4-BE49-F238E27FC236}">
                <a16:creationId xmlns:a16="http://schemas.microsoft.com/office/drawing/2014/main" id="{DADF71B5-6B23-4E56-B76E-E15D83E433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665" y="3488305"/>
            <a:ext cx="5646335" cy="3369695"/>
          </a:xfrm>
          <a:prstGeom prst="rect">
            <a:avLst/>
          </a:prstGeom>
        </p:spPr>
      </p:pic>
      <p:sp>
        <p:nvSpPr>
          <p:cNvPr id="26" name="Rectángulo 25">
            <a:extLst>
              <a:ext uri="{FF2B5EF4-FFF2-40B4-BE49-F238E27FC236}">
                <a16:creationId xmlns:a16="http://schemas.microsoft.com/office/drawing/2014/main" id="{0CDAE7C5-C8B1-49C9-97F3-B5376EF02965}"/>
              </a:ext>
            </a:extLst>
          </p:cNvPr>
          <p:cNvSpPr/>
          <p:nvPr/>
        </p:nvSpPr>
        <p:spPr>
          <a:xfrm>
            <a:off x="6462926" y="3697792"/>
            <a:ext cx="239325" cy="31602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64CDC41-F375-44A9-9B2F-036A1E793BE9}"/>
              </a:ext>
            </a:extLst>
          </p:cNvPr>
          <p:cNvSpPr txBox="1"/>
          <p:nvPr/>
        </p:nvSpPr>
        <p:spPr>
          <a:xfrm>
            <a:off x="2539814" y="100569"/>
            <a:ext cx="8229600" cy="460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Análisis de Componentes Principales (PCA)</a:t>
            </a:r>
            <a:endParaRPr lang="es-ES" sz="24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72BDB74-2D28-4614-A05F-161BA9E445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3951" y="581866"/>
            <a:ext cx="7308049" cy="278783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41B9C820-83DA-40BC-A780-F26A0E0CF4C0}"/>
              </a:ext>
            </a:extLst>
          </p:cNvPr>
          <p:cNvSpPr txBox="1"/>
          <p:nvPr/>
        </p:nvSpPr>
        <p:spPr>
          <a:xfrm>
            <a:off x="60477" y="4189233"/>
            <a:ext cx="6732209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PC1 concentra la información térmica (temperatura y sensación térmica), reflejando las condiciones generales de calor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7111678-C46A-4396-8670-361A01E2BE34}"/>
              </a:ext>
            </a:extLst>
          </p:cNvPr>
          <p:cNvSpPr txBox="1"/>
          <p:nvPr/>
        </p:nvSpPr>
        <p:spPr>
          <a:xfrm>
            <a:off x="53602" y="4943994"/>
            <a:ext cx="673220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PC2 combina humedad y presión frente al viento, capturando la dinámica atmosférica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CCC24E1-13C0-4B12-A56C-5C63AD05A1FE}"/>
              </a:ext>
            </a:extLst>
          </p:cNvPr>
          <p:cNvSpPr txBox="1"/>
          <p:nvPr/>
        </p:nvSpPr>
        <p:spPr>
          <a:xfrm>
            <a:off x="60477" y="5571848"/>
            <a:ext cx="6725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PC3 representa escenarios de precipitación y viento asociados a baja visibilidad, es decir, condiciones adversas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4BC0B8DC-E765-42F6-A82E-55498F06AD5E}"/>
              </a:ext>
            </a:extLst>
          </p:cNvPr>
          <p:cNvSpPr txBox="1"/>
          <p:nvPr/>
        </p:nvSpPr>
        <p:spPr>
          <a:xfrm>
            <a:off x="53602" y="6185150"/>
            <a:ext cx="664864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PC4 y PC5 recogen variaciones adicionales de presión, viento y visibilidad, funcionando como componentes residuales</a:t>
            </a: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81AE9706-D186-49ED-BF9C-D15353A5D1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7164"/>
            <a:ext cx="4816851" cy="3739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185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989E5391-5832-4761-91B9-E19F63C84DC1}"/>
              </a:ext>
            </a:extLst>
          </p:cNvPr>
          <p:cNvSpPr/>
          <p:nvPr/>
        </p:nvSpPr>
        <p:spPr>
          <a:xfrm>
            <a:off x="6261489" y="3317815"/>
            <a:ext cx="5892335" cy="2223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2CD8B2B-E30E-45DB-8B26-9B01203FA639}"/>
              </a:ext>
            </a:extLst>
          </p:cNvPr>
          <p:cNvSpPr txBox="1"/>
          <p:nvPr/>
        </p:nvSpPr>
        <p:spPr>
          <a:xfrm>
            <a:off x="2642765" y="223970"/>
            <a:ext cx="690646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Correlación entre </a:t>
            </a:r>
            <a:r>
              <a:rPr lang="es-E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componentes</a:t>
            </a:r>
            <a:r>
              <a:rPr lang="es-E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 principales y severidad</a:t>
            </a: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C34428AA-F8E0-491C-9310-0F1601A82F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1495158"/>
            <a:ext cx="12192000" cy="2499615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5E353217-054D-4C5D-948C-8CCC557BE0EA}"/>
              </a:ext>
            </a:extLst>
          </p:cNvPr>
          <p:cNvSpPr txBox="1"/>
          <p:nvPr/>
        </p:nvSpPr>
        <p:spPr>
          <a:xfrm>
            <a:off x="245074" y="4487065"/>
            <a:ext cx="117018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Los cinco componentes principales derivados de las variables climáticas presentan correlaciones muy débiles con la severidad de los accidentes (|r| &lt; 0.1)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77D535E-F6A7-4299-A4E9-9D8183E1AA6D}"/>
              </a:ext>
            </a:extLst>
          </p:cNvPr>
          <p:cNvSpPr txBox="1"/>
          <p:nvPr/>
        </p:nvSpPr>
        <p:spPr>
          <a:xfrm>
            <a:off x="245075" y="5355765"/>
            <a:ext cx="117018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Este resultado confirma que, aunque el PCA logra una reducción efectiva de 7 a 5 variables conservando aproximadamente 91% de la varianza total, las condiciones climáticas no son un factor determinante en la gravedad de los accidentes</a:t>
            </a:r>
          </a:p>
        </p:txBody>
      </p:sp>
    </p:spTree>
    <p:extLst>
      <p:ext uri="{BB962C8B-B14F-4D97-AF65-F5344CB8AC3E}">
        <p14:creationId xmlns:p14="http://schemas.microsoft.com/office/powerpoint/2010/main" val="21116558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112065C-CCED-4682-BE9C-1A7DAD29AA3F}"/>
              </a:ext>
            </a:extLst>
          </p:cNvPr>
          <p:cNvSpPr txBox="1"/>
          <p:nvPr/>
        </p:nvSpPr>
        <p:spPr>
          <a:xfrm>
            <a:off x="931176" y="151002"/>
            <a:ext cx="10821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Clustering</a:t>
            </a:r>
            <a:r>
              <a:rPr lang="es-E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 de Accidentes: Método del Codo y K-Means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A369260-CD84-4A8C-AF4C-21DBF92343DB}"/>
              </a:ext>
            </a:extLst>
          </p:cNvPr>
          <p:cNvSpPr txBox="1"/>
          <p:nvPr/>
        </p:nvSpPr>
        <p:spPr>
          <a:xfrm>
            <a:off x="429235" y="837936"/>
            <a:ext cx="11333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método del codo se utilizó para determinar el número óptimo de clusters, evaluando la compactación mediante el score (−WCSS).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E04A6BAD-15FB-4D27-B7B3-6A9E895F5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15" y="1361156"/>
            <a:ext cx="6174301" cy="5105185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3695F6F6-BA5C-4835-A212-DE5D7A2E5D87}"/>
              </a:ext>
            </a:extLst>
          </p:cNvPr>
          <p:cNvSpPr txBox="1"/>
          <p:nvPr/>
        </p:nvSpPr>
        <p:spPr>
          <a:xfrm>
            <a:off x="6435755" y="2264464"/>
            <a:ext cx="5327009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endParaRPr lang="es-ES" sz="14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Los clusters 1 y 3 concentran la mayor parte de las observaciones, lo que indica que el conjunto de datos representan los escenarios más comunes bajo los cuales ocurren los accidentes de tráfico.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endParaRPr lang="es-ES" sz="14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cluster 0 presenta un tamaño intermedio, lo que sugiere que este grupo podría estar asociado a condiciones particulares, como variaciones en la duración del evento, la infraestructura vial o el horario.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endParaRPr lang="es-ES" sz="14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cluster 2 agrupa un número muy reducido de observaciones, representando una fracción mínima del total. La presencia de este cluster indica la existencia de eventos atípicos o extremos que difieren significativamente del comportamiento general. 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83813CA-D451-48EE-8E9A-171DE00F694D}"/>
              </a:ext>
            </a:extLst>
          </p:cNvPr>
          <p:cNvSpPr txBox="1"/>
          <p:nvPr/>
        </p:nvSpPr>
        <p:spPr>
          <a:xfrm>
            <a:off x="6389616" y="1310357"/>
            <a:ext cx="54025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algoritmo K-Means se aplicó con k = 4 sobre datos estandarizados, agrupando los accidentes en clusters con características homogéneas. La distribución resultante es desigual:</a:t>
            </a:r>
          </a:p>
        </p:txBody>
      </p:sp>
    </p:spTree>
    <p:extLst>
      <p:ext uri="{BB962C8B-B14F-4D97-AF65-F5344CB8AC3E}">
        <p14:creationId xmlns:p14="http://schemas.microsoft.com/office/powerpoint/2010/main" val="796897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61811C15-C8F7-4D27-A9C5-E540806FC4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65" y="262383"/>
            <a:ext cx="6747283" cy="448610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03C1FD1-8591-483F-949E-CA18906AAF2B}"/>
              </a:ext>
            </a:extLst>
          </p:cNvPr>
          <p:cNvSpPr txBox="1"/>
          <p:nvPr/>
        </p:nvSpPr>
        <p:spPr>
          <a:xfrm>
            <a:off x="215579" y="6084689"/>
            <a:ext cx="11579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Distribución de Temperatura: El Cluster 1 tiene la base más ancha en temperaturas bajas, lo que respalda su perfil asociado a condiciones climáticas más frías o matutinas.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E6647FA-1C53-465E-9962-F93C73D3B4B7}"/>
              </a:ext>
            </a:extLst>
          </p:cNvPr>
          <p:cNvSpPr txBox="1"/>
          <p:nvPr/>
        </p:nvSpPr>
        <p:spPr>
          <a:xfrm>
            <a:off x="7391008" y="356316"/>
            <a:ext cx="448841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La imagen muestra la distribución de variables clave por cluster mediante gráficos tipo violín, lo que permite visualizar la densidad y variabilidad interna de cada grupo: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4C2F4B6-990E-4C48-802A-392F80F6C207}"/>
              </a:ext>
            </a:extLst>
          </p:cNvPr>
          <p:cNvSpPr txBox="1"/>
          <p:nvPr/>
        </p:nvSpPr>
        <p:spPr>
          <a:xfrm>
            <a:off x="7382926" y="1626605"/>
            <a:ext cx="441260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Distribución de Severidad: Es el gráfico más revelador. Confirma que el Cluster 0 es el único enfocado en accidentes de alta gravedad (niveles 3 y 4), mientras que los clusters 1, 2 y 3 están masivamente concentrados en la severidad 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908AD88-BCDB-4F65-956A-F1DC0551585D}"/>
              </a:ext>
            </a:extLst>
          </p:cNvPr>
          <p:cNvSpPr txBox="1"/>
          <p:nvPr/>
        </p:nvSpPr>
        <p:spPr>
          <a:xfrm>
            <a:off x="7391008" y="3248626"/>
            <a:ext cx="44126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Distribución de Humedad: El Cluster 3 se diferencia claramente por presentar los niveles de humedad más altos y constantes, lo que lo define como el perfil de accidentes en condiciones húmedas.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C499C16-7DBC-4A09-AB59-3ABDB9DC23E6}"/>
              </a:ext>
            </a:extLst>
          </p:cNvPr>
          <p:cNvSpPr txBox="1"/>
          <p:nvPr/>
        </p:nvSpPr>
        <p:spPr>
          <a:xfrm>
            <a:off x="215579" y="5346025"/>
            <a:ext cx="1157995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Distribución de duración: Aquí vemos por qué el Cluster 2 es el de "eventos atípicos". Su "cola" es mucho más larga que las demás, lo que indica accidentes que bloquearon el tráfico por tiempos extremadamente prolongados.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838E7E3-DF9F-4A74-8D9E-02D9648998D4}"/>
              </a:ext>
            </a:extLst>
          </p:cNvPr>
          <p:cNvSpPr txBox="1"/>
          <p:nvPr/>
        </p:nvSpPr>
        <p:spPr>
          <a:xfrm>
            <a:off x="223661" y="4789568"/>
            <a:ext cx="11579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Distribución de Hora de Inicio: El Cluster 1 muestra un pico en las primeras horas de la mañana. El Cluster 0 (el más severo) ocurre predominantemente alrededor del mediodía y el Cluster 2 se inclina hacia la tarde-noche</a:t>
            </a:r>
          </a:p>
        </p:txBody>
      </p:sp>
    </p:spTree>
    <p:extLst>
      <p:ext uri="{BB962C8B-B14F-4D97-AF65-F5344CB8AC3E}">
        <p14:creationId xmlns:p14="http://schemas.microsoft.com/office/powerpoint/2010/main" val="3237856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6E606BC5-AE17-49E6-972E-DFE48B960D8E}"/>
              </a:ext>
            </a:extLst>
          </p:cNvPr>
          <p:cNvSpPr/>
          <p:nvPr/>
        </p:nvSpPr>
        <p:spPr>
          <a:xfrm>
            <a:off x="322968" y="4768652"/>
            <a:ext cx="11546064" cy="1890032"/>
          </a:xfrm>
          <a:prstGeom prst="rect">
            <a:avLst/>
          </a:prstGeom>
          <a:solidFill>
            <a:srgbClr val="13D3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D347F3D-CF1C-4B12-A44F-9B9AD4CB1516}"/>
              </a:ext>
            </a:extLst>
          </p:cNvPr>
          <p:cNvSpPr/>
          <p:nvPr/>
        </p:nvSpPr>
        <p:spPr>
          <a:xfrm>
            <a:off x="322968" y="2724224"/>
            <a:ext cx="11546064" cy="1890032"/>
          </a:xfrm>
          <a:prstGeom prst="rect">
            <a:avLst/>
          </a:prstGeom>
          <a:solidFill>
            <a:srgbClr val="FAB0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102238F-F4A9-4E21-B5FE-49B0B867D436}"/>
              </a:ext>
            </a:extLst>
          </p:cNvPr>
          <p:cNvSpPr/>
          <p:nvPr/>
        </p:nvSpPr>
        <p:spPr>
          <a:xfrm>
            <a:off x="322968" y="598721"/>
            <a:ext cx="11546064" cy="197110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23D1EB2-A43E-497F-B7EC-32030015EB4A}"/>
              </a:ext>
            </a:extLst>
          </p:cNvPr>
          <p:cNvSpPr txBox="1"/>
          <p:nvPr/>
        </p:nvSpPr>
        <p:spPr>
          <a:xfrm>
            <a:off x="1551964" y="75501"/>
            <a:ext cx="9404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Respuestas a las Preguntas de Investigación</a:t>
            </a:r>
            <a:endParaRPr lang="es-ES" sz="28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04135B5-8E85-4E5C-9C87-EF3018F6AFC4}"/>
              </a:ext>
            </a:extLst>
          </p:cNvPr>
          <p:cNvSpPr txBox="1"/>
          <p:nvPr/>
        </p:nvSpPr>
        <p:spPr>
          <a:xfrm>
            <a:off x="477469" y="734841"/>
            <a:ext cx="11237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Pregunta 1: ¿Qué factores ambientales y temporales están más fuertemente asociados con la severidad de los accidentes de tráfico?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A353BF3-D248-4348-99CD-667C3EC3B2C9}"/>
              </a:ext>
            </a:extLst>
          </p:cNvPr>
          <p:cNvSpPr txBox="1"/>
          <p:nvPr/>
        </p:nvSpPr>
        <p:spPr>
          <a:xfrm>
            <a:off x="477468" y="2844224"/>
            <a:ext cx="11237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Pregunta 2: ¿Existen patrones temporales significativos en la ocurrencia de accidentes (hora del día, día de la semana, estacionalidad)?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B98FE77-037C-42B9-81A7-252435821015}"/>
              </a:ext>
            </a:extLst>
          </p:cNvPr>
          <p:cNvSpPr txBox="1"/>
          <p:nvPr/>
        </p:nvSpPr>
        <p:spPr>
          <a:xfrm>
            <a:off x="477467" y="4856634"/>
            <a:ext cx="11237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Pregunta 3: ¿Cómo varían las características de los accidentes entre diferentes estados y condiciones climáticas?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4533C45-23FC-4852-A474-4743C19DF316}"/>
              </a:ext>
            </a:extLst>
          </p:cNvPr>
          <p:cNvSpPr txBox="1"/>
          <p:nvPr/>
        </p:nvSpPr>
        <p:spPr>
          <a:xfrm>
            <a:off x="477469" y="1258061"/>
            <a:ext cx="1123706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La infraestructura vial (semáforos, intersecciones, cruces) es el factor dominante en la severidad de los accidentes.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La ubicación geográfica (estado) es el segundo predictor más importante.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El clima y el tiempo no predicen severidad por sí solos; actúan como factores moderadores dentro de contextos de infraestructura.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C43361A-2A1E-4931-9B84-CD40322D211B}"/>
              </a:ext>
            </a:extLst>
          </p:cNvPr>
          <p:cNvSpPr txBox="1"/>
          <p:nvPr/>
        </p:nvSpPr>
        <p:spPr>
          <a:xfrm>
            <a:off x="477469" y="3379445"/>
            <a:ext cx="112370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Existen patrones temporales claros en la frecuencia de accidentes (horas pico, días laborales, estacionalidad).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La influencia temporal en la severidad es secundaria y está mediada por el volumen de tráfico y la infraestructura.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El tiempo explica cuándo ocurren los accidentes, no principalmente qué tan severos son.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B151894-A332-429D-964B-E22512A269DD}"/>
              </a:ext>
            </a:extLst>
          </p:cNvPr>
          <p:cNvSpPr txBox="1"/>
          <p:nvPr/>
        </p:nvSpPr>
        <p:spPr>
          <a:xfrm>
            <a:off x="477467" y="5384495"/>
            <a:ext cx="112370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Hay fuertes diferencias regionales: el estado es uno de los predictores más importantes de severidad.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endParaRPr lang="es-ES" sz="14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Las condiciones climáticas muestran efectos contextuales y no universales.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endParaRPr lang="es-ES" sz="14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No existe una política de seguridad vial única: las intervenciones deben ser específicas por estado.</a:t>
            </a:r>
          </a:p>
        </p:txBody>
      </p:sp>
    </p:spTree>
    <p:extLst>
      <p:ext uri="{BB962C8B-B14F-4D97-AF65-F5344CB8AC3E}">
        <p14:creationId xmlns:p14="http://schemas.microsoft.com/office/powerpoint/2010/main" val="17016486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1625</TotalTime>
  <Words>1486</Words>
  <Application>Microsoft Office PowerPoint</Application>
  <PresentationFormat>Panorámica</PresentationFormat>
  <Paragraphs>90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9" baseType="lpstr">
      <vt:lpstr>Arial</vt:lpstr>
      <vt:lpstr>Arial Black</vt:lpstr>
      <vt:lpstr>Calibri</vt:lpstr>
      <vt:lpstr>Calibri Light</vt:lpstr>
      <vt:lpstr>Courier New</vt:lpstr>
      <vt:lpstr>Wingdings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Adriana Boue</dc:creator>
  <cp:lastModifiedBy>Adriana Boue</cp:lastModifiedBy>
  <cp:revision>30</cp:revision>
  <dcterms:created xsi:type="dcterms:W3CDTF">2026-01-11T22:37:39Z</dcterms:created>
  <dcterms:modified xsi:type="dcterms:W3CDTF">2026-01-13T01:43:37Z</dcterms:modified>
</cp:coreProperties>
</file>