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65" r:id="rId6"/>
    <p:sldId id="258" r:id="rId7"/>
    <p:sldId id="259" r:id="rId8"/>
    <p:sldId id="260" r:id="rId9"/>
    <p:sldId id="261" r:id="rId10"/>
    <p:sldId id="262" r:id="rId11"/>
    <p:sldId id="263" r:id="rId12"/>
    <p:sldId id="266" r:id="rId13"/>
    <p:sldId id="267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00A"/>
    <a:srgbClr val="FCAF04"/>
    <a:srgbClr val="13D313"/>
    <a:srgbClr val="255779"/>
    <a:srgbClr val="3274A1"/>
    <a:srgbClr val="6A1A6C"/>
    <a:srgbClr val="7C5378"/>
    <a:srgbClr val="2D223A"/>
    <a:srgbClr val="67001F"/>
    <a:srgbClr val="B404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1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B4CCE-9E5C-4D7B-92E4-7FB210B21D7A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4D487-8D63-415A-B3B9-DEFE2730CE83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: esquinas redondeadas 12"/>
          <p:cNvSpPr/>
          <p:nvPr/>
        </p:nvSpPr>
        <p:spPr>
          <a:xfrm>
            <a:off x="9413160" y="695848"/>
            <a:ext cx="2538998" cy="273315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: esquinas redondeadas 11"/>
          <p:cNvSpPr/>
          <p:nvPr/>
        </p:nvSpPr>
        <p:spPr>
          <a:xfrm>
            <a:off x="6695205" y="695848"/>
            <a:ext cx="2538998" cy="273315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: esquinas redondeadas 10"/>
          <p:cNvSpPr/>
          <p:nvPr/>
        </p:nvSpPr>
        <p:spPr>
          <a:xfrm>
            <a:off x="3915871" y="695848"/>
            <a:ext cx="2538998" cy="273315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/>
          <p:cNvSpPr/>
          <p:nvPr/>
        </p:nvSpPr>
        <p:spPr>
          <a:xfrm>
            <a:off x="-3636" y="0"/>
            <a:ext cx="369270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/>
          <p:cNvSpPr txBox="1"/>
          <p:nvPr/>
        </p:nvSpPr>
        <p:spPr>
          <a:xfrm>
            <a:off x="0" y="397973"/>
            <a:ext cx="37304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An</a:t>
            </a:r>
            <a:r>
              <a:rPr lang="es-ES" sz="3200" dirty="0">
                <a:solidFill>
                  <a:schemeClr val="bg1"/>
                </a:solidFill>
                <a:latin typeface="Arial Black" panose="020B0A04020102020204" pitchFamily="34" charset="0"/>
              </a:rPr>
              <a:t>álisis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Estadístico de </a:t>
            </a:r>
            <a:r>
              <a:rPr lang="es-ES" sz="3200" dirty="0">
                <a:solidFill>
                  <a:schemeClr val="bg1"/>
                </a:solidFill>
                <a:latin typeface="Arial Black" panose="020B0A04020102020204" pitchFamily="34" charset="0"/>
              </a:rPr>
              <a:t>Accidentes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de </a:t>
            </a:r>
            <a:r>
              <a:rPr lang="es-ES" sz="3200" dirty="0">
                <a:solidFill>
                  <a:schemeClr val="bg1"/>
                </a:solidFill>
                <a:latin typeface="Arial Black" panose="020B0A04020102020204" pitchFamily="34" charset="0"/>
              </a:rPr>
              <a:t>Tráfico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en Estados Unidos</a:t>
            </a:r>
            <a:endParaRPr lang="es-E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29955" y="4521035"/>
            <a:ext cx="3225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  <a:latin typeface="Arial Black" panose="020B0A04020102020204" pitchFamily="34" charset="0"/>
              </a:rPr>
              <a:t>Enero 2026</a:t>
            </a:r>
            <a:endParaRPr lang="es-E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s-ES" sz="2000" dirty="0">
                <a:solidFill>
                  <a:schemeClr val="bg1"/>
                </a:solidFill>
                <a:latin typeface="Arial Black" panose="020B0A04020102020204" pitchFamily="34" charset="0"/>
              </a:rPr>
              <a:t>Kelen Alfaro García            Adriana Boué García       Carlos Mazorra Matos</a:t>
            </a:r>
            <a:endParaRPr lang="es-E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5185370" y="136363"/>
            <a:ext cx="5968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Black" panose="020B0A04020102020204" pitchFamily="34" charset="0"/>
              </a:rPr>
              <a:t>Preguntas de Investigación</a:t>
            </a:r>
            <a:endParaRPr lang="es-ES" sz="2800" b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945298" y="905302"/>
            <a:ext cx="24856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¿Qué factores ambientales y temporales están más fuertemente asociados con la severidad de los accidentes de tráfico?</a:t>
            </a:r>
            <a:endParaRPr lang="es-ES" dirty="0"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6721880" y="905302"/>
            <a:ext cx="2485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¿Existen patrones temporales significativos en la ocurrencia de accidentes (hora del día, día de la semana, estacionalidad)?</a:t>
            </a:r>
            <a:endParaRPr lang="es-ES" b="0" dirty="0"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9325261" y="905302"/>
            <a:ext cx="27147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¿Cómo varían las características de los accidentes entre diferentes estados y condiciones climáticas?</a:t>
            </a:r>
            <a:endParaRPr lang="es-ES" b="0" dirty="0"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 algn="ctr"/>
            <a:endParaRPr lang="es-ES" dirty="0"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4432161" y="3829139"/>
            <a:ext cx="7065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Principales Variables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4770112" y="4906132"/>
            <a:ext cx="1684757" cy="46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Black" panose="020B0A04020102020204" pitchFamily="34" charset="0"/>
              </a:rPr>
              <a:t>Temporales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4783412" y="5342092"/>
            <a:ext cx="1671457" cy="46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Black" panose="020B0A04020102020204" pitchFamily="34" charset="0"/>
              </a:rPr>
              <a:t>Ubicación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4791631" y="5906569"/>
            <a:ext cx="149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Black" panose="020B0A04020102020204" pitchFamily="34" charset="0"/>
              </a:rPr>
              <a:t>Severidad 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4783413" y="6265451"/>
            <a:ext cx="3113022" cy="46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Black" panose="020B0A04020102020204" pitchFamily="34" charset="0"/>
              </a:rPr>
              <a:t>Distancia y Visibilidad 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4781170" y="4417403"/>
            <a:ext cx="1964689" cy="46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0" lang="es-ES" altLang="es-ES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Identificación</a:t>
            </a:r>
            <a:r>
              <a:rPr kumimoji="0" lang="es-ES" altLang="es-E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endParaRPr kumimoji="0" lang="es-ES" altLang="es-E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pic>
        <p:nvPicPr>
          <p:cNvPr id="21" name="Gráfico 20" descr="Identificación de empleado con relleno sólido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4359" y="4420627"/>
            <a:ext cx="464744" cy="464744"/>
          </a:xfrm>
          <a:prstGeom prst="rect">
            <a:avLst/>
          </a:prstGeom>
        </p:spPr>
      </p:pic>
      <p:pic>
        <p:nvPicPr>
          <p:cNvPr id="22" name="Gráfico 21" descr="Calendario con relleno sólid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3701" y="4904740"/>
            <a:ext cx="517236" cy="437352"/>
          </a:xfrm>
          <a:prstGeom prst="rect">
            <a:avLst/>
          </a:prstGeom>
        </p:spPr>
      </p:pic>
      <p:pic>
        <p:nvPicPr>
          <p:cNvPr id="23" name="Gráfico 22" descr="Visión baja con relleno sólido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8401" y="6265451"/>
            <a:ext cx="516659" cy="516659"/>
          </a:xfrm>
          <a:prstGeom prst="rect">
            <a:avLst/>
          </a:prstGeom>
        </p:spPr>
      </p:pic>
      <p:pic>
        <p:nvPicPr>
          <p:cNvPr id="24" name="Gráfico 23" descr="Marcador con relleno sólido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7404" y="5371046"/>
            <a:ext cx="646149" cy="465344"/>
          </a:xfrm>
          <a:prstGeom prst="rect">
            <a:avLst/>
          </a:prstGeom>
        </p:spPr>
      </p:pic>
      <p:pic>
        <p:nvPicPr>
          <p:cNvPr id="25" name="Gráfico 24" descr="Cráneo con relleno sólido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68401" y="5813000"/>
            <a:ext cx="516659" cy="452451"/>
          </a:xfrm>
          <a:prstGeom prst="rect">
            <a:avLst/>
          </a:prstGeom>
        </p:spPr>
      </p:pic>
      <p:pic>
        <p:nvPicPr>
          <p:cNvPr id="26" name="Gráfico 25" descr="Nube con relleno sólido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59409" y="4376442"/>
            <a:ext cx="546664" cy="546664"/>
          </a:xfrm>
          <a:prstGeom prst="rect">
            <a:avLst/>
          </a:prstGeom>
        </p:spPr>
      </p:pic>
      <p:pic>
        <p:nvPicPr>
          <p:cNvPr id="27" name="Gráfico 26" descr="Portapapeles con relleno sólido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3360" y="5865475"/>
            <a:ext cx="473267" cy="416818"/>
          </a:xfrm>
          <a:prstGeom prst="rect">
            <a:avLst/>
          </a:prstGeom>
        </p:spPr>
      </p:pic>
      <p:pic>
        <p:nvPicPr>
          <p:cNvPr id="28" name="Gráfico 27" descr="Señal de negación con relleno sólido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26112" y="4903201"/>
            <a:ext cx="399867" cy="399867"/>
          </a:xfrm>
          <a:prstGeom prst="rect">
            <a:avLst/>
          </a:prstGeom>
        </p:spPr>
      </p:pic>
      <p:pic>
        <p:nvPicPr>
          <p:cNvPr id="29" name="Gráfico 28" descr="Do con relleno sólido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96107" y="5347638"/>
            <a:ext cx="473267" cy="473267"/>
          </a:xfrm>
          <a:prstGeom prst="rect">
            <a:avLst/>
          </a:prstGeom>
        </p:spPr>
      </p:pic>
      <p:sp>
        <p:nvSpPr>
          <p:cNvPr id="30" name="Rectangle 1"/>
          <p:cNvSpPr>
            <a:spLocks noChangeArrowheads="1"/>
          </p:cNvSpPr>
          <p:nvPr/>
        </p:nvSpPr>
        <p:spPr bwMode="auto">
          <a:xfrm rot="10800000" flipV="1">
            <a:off x="8732446" y="5800708"/>
            <a:ext cx="3202825" cy="464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Black" panose="020B0A04020102020204" pitchFamily="34" charset="0"/>
              </a:rPr>
              <a:t>Descripción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Black" panose="020B0A04020102020204" pitchFamily="34" charset="0"/>
              </a:rPr>
              <a:t> </a:t>
            </a: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8732445" y="4417403"/>
            <a:ext cx="3202826" cy="46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Black" panose="020B0A04020102020204" pitchFamily="34" charset="0"/>
              </a:rPr>
              <a:t>Clima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Black" panose="020B0A04020102020204" pitchFamily="34" charset="0"/>
              </a:rPr>
              <a:t> 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8732445" y="4972095"/>
            <a:ext cx="2749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Black" panose="020B0A04020102020204" pitchFamily="34" charset="0"/>
              </a:rPr>
              <a:t>Infraestructura Vial 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8710523" y="5353407"/>
            <a:ext cx="2106277" cy="46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Black" panose="020B0A04020102020204" pitchFamily="34" charset="0"/>
              </a:rPr>
              <a:t>Periodo del Día 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/>
          <p:cNvSpPr/>
          <p:nvPr/>
        </p:nvSpPr>
        <p:spPr>
          <a:xfrm>
            <a:off x="0" y="738231"/>
            <a:ext cx="12192000" cy="3889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/>
          <p:cNvSpPr txBox="1"/>
          <p:nvPr/>
        </p:nvSpPr>
        <p:spPr>
          <a:xfrm>
            <a:off x="2104373" y="215011"/>
            <a:ext cx="11047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Severidad y Clima: Resultados del Análisis</a:t>
            </a:r>
            <a:endParaRPr lang="es-E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90" y="738231"/>
            <a:ext cx="4994694" cy="3889331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473" y="1056818"/>
            <a:ext cx="6553926" cy="3570744"/>
          </a:xfrm>
          <a:prstGeom prst="rect">
            <a:avLst/>
          </a:prstGeom>
        </p:spPr>
      </p:pic>
      <p:sp>
        <p:nvSpPr>
          <p:cNvPr id="21" name="CuadroTexto 20"/>
          <p:cNvSpPr txBox="1"/>
          <p:nvPr/>
        </p:nvSpPr>
        <p:spPr>
          <a:xfrm>
            <a:off x="212255" y="4946149"/>
            <a:ext cx="1176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s-E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El mapa de calor de correlaciones confirma que la severidad tiene correlaciones muy bajas con variables climáticas y de distancia (|r| &lt; 0.1)</a:t>
            </a:r>
            <a:endParaRPr lang="es-ES" sz="16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212255" y="5530924"/>
            <a:ext cx="117674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s-E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La gráfica de severidad por las 8 condiciones climáticas más frecuentes muestra que la mediana de severidad se mantiene en nivel 2 para todas las condiciones. No se observan diferencias sustanciales entre condiciones como "Fair", "Cloudy", "Rain" u otras, lo que indica que el tipo de clima registrado no discrimina significativamente la gravedad del accidente</a:t>
            </a:r>
            <a:endParaRPr lang="es-ES" sz="16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692" y="679504"/>
            <a:ext cx="5551428" cy="2984844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445401" y="156284"/>
            <a:ext cx="766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Severidad-Hora y Severidad-Ubicaci</a:t>
            </a:r>
            <a:r>
              <a:rPr lang="es-E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ón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159333" y="820741"/>
            <a:ext cx="591269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El conteo de accidentes por hora revela un patrón claramente asociado a los ciclos de actividad vehicular diaria. Se identifican dos picos principales: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algn="just"/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 - Pico matutino (6:00 - 9:00): Corresponde a las horas de desplazamiento hacia el trabajo y escuelas.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algn="just"/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 - Pico vespertino (15:00 - 18:00): Coincide con el regreso a casa y la salida de actividades laborales.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214210" y="2300807"/>
            <a:ext cx="5905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- La severidad 2 domina en todas las horas, manteniendo el patrón general del dataset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93" y="2890017"/>
            <a:ext cx="5305693" cy="3940257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6072029" y="4162855"/>
            <a:ext cx="592481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- La severidad promedio se mantiene cercana al nivel 2 en todos los estados, consistente con el patrón general del dataset.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algn="just"/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 - Sin embargo, existen variaciones notables: algunos estados muestran severidad promedio ligeramente superior (más cerca de 2.3-2.4) mientras otros están más cerca de 2.0.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algn="just"/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 - No hay una correlación directa entre el volumen de accidentes y la severidad promedio. Por ejemplo, California tiene muchos accidentes pero no necesariamente la mayor severidad promedio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/>
          <p:nvPr/>
        </p:nvSpPr>
        <p:spPr>
          <a:xfrm>
            <a:off x="0" y="0"/>
            <a:ext cx="6887361" cy="68789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1" y="990172"/>
            <a:ext cx="5221234" cy="400508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30454" y="126106"/>
            <a:ext cx="6820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Arial Black" panose="020B0A04020102020204" pitchFamily="34" charset="0"/>
              </a:rPr>
              <a:t>Relación entre Severidad y Duración </a:t>
            </a:r>
            <a:endParaRPr lang="es-ES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553512" y="751344"/>
            <a:ext cx="655064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Observaciones principales</a:t>
            </a:r>
            <a:endParaRPr lang="es-ES" sz="20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algn="just"/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algn="just"/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- Tendencia creciente: A medida que aumenta el nivel de severidad, la duración mediana del accidente también incrementa. Los accidentes de severidad 4 tienen una duración notablemente mayor que los de severidad 1 o 2.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algn="just"/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algn="just"/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- Mayor dispersión en severidades altas: Los accidentes más graves (severidad 3 y 4) muestran cajas más amplias y bigotes más extensos, indicando mayor variabilidad en los tiempos de resolución.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algn="just"/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algn="just"/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- Outliers en todos los niveles: Se observan valores atípicos en todas las categorías, pero son más frecuentes y extremos en severidades bajas, posiblemente debido al mayor volumen de datos en esas categorías.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87840" y="5131456"/>
            <a:ext cx="534831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NOTA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: </a:t>
            </a:r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La duración en este dataset representa el tiempo que el incidente afectó el tráfico (desde `Start Time` hasta `End Time`), no necesariamente la gravedad de las lesiones. Por ello, esta variable podría considerarse más como una **consecuencia de la severidad** que como un predictor independiente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1906530" y="86879"/>
            <a:ext cx="8483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Árbol de Decisión, Resultados del Modelo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162961" y="4902317"/>
            <a:ext cx="252229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Exactitud: </a:t>
            </a:r>
            <a:r>
              <a:rPr lang="en-US" altLang="es-E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52</a:t>
            </a:r>
            <a:r>
              <a:rPr lang="es-E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en-US" altLang="es-E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0</a:t>
            </a:r>
            <a:r>
              <a:rPr lang="es-E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9%</a:t>
            </a:r>
            <a:endParaRPr lang="es-ES" sz="16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162961" y="5535515"/>
            <a:ext cx="118660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Muestra un sesgo hacia la predicci</a:t>
            </a:r>
            <a:r>
              <a:rPr kumimoji="0" lang="" alt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ón</a:t>
            </a:r>
            <a:r>
              <a:rPr kumimoji="0" lang="en-US" alt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de la severidad 1 lo que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sugiere que los accidentes con menor impacto en tráfico tienen características más distintivas y predecibles que los de alto impacto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162961" y="6137935"/>
            <a:ext cx="11897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Factores Principales (Top 3):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Identificó </a:t>
            </a:r>
            <a:r>
              <a:rPr kumimoji="0" lang="en-US" altLang="es-ES" sz="16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Mes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, </a:t>
            </a:r>
            <a:r>
              <a:rPr kumimoji="0" lang="es-ES" sz="16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Estado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y </a:t>
            </a:r>
            <a:r>
              <a:rPr kumimoji="0" lang="es-ES" sz="16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Presencia de Semáforo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como las variables más importantes para dividir los datos.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" y="547370"/>
            <a:ext cx="5342255" cy="45427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605" y="610235"/>
            <a:ext cx="6457950" cy="4291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1906530" y="86879"/>
            <a:ext cx="8483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Random Forest, Resultados del Modelo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162961" y="4902317"/>
            <a:ext cx="252229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Exactitud: </a:t>
            </a:r>
            <a:r>
              <a:rPr lang="en-US" altLang="es-E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54</a:t>
            </a:r>
            <a:r>
              <a:rPr lang="es-E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en-US" altLang="es-E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27</a:t>
            </a:r>
            <a:r>
              <a:rPr lang="es-E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%</a:t>
            </a:r>
            <a:endParaRPr lang="es-ES" sz="16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162961" y="5535515"/>
            <a:ext cx="118660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Supera al </a:t>
            </a:r>
            <a:r>
              <a:rPr kumimoji="0" lang="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Árbol de Decisión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al combinar múltiples árboles entrenados en muestras bootstrap con selección aleatoria de features</a:t>
            </a:r>
            <a:r>
              <a:rPr kumimoji="0" lang="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reduce la varianza y mejora la estabilidad predictiva.</a:t>
            </a:r>
            <a:r>
              <a:rPr kumimoji="0" lang="en-US" alt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endParaRPr kumimoji="0" lang="en-US" altLang="es-E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162961" y="6137935"/>
            <a:ext cx="11897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" alt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Mantiene el sesgo hacia la predicción de la severidad 1 aunque en menor cantidad y mantiene a Mes, Estado y Presencia de Semáforo como varibles más importantes a la hora de predecir.</a:t>
            </a:r>
            <a:endParaRPr kumimoji="0" lang="" altLang="es-E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" y="614680"/>
            <a:ext cx="5238115" cy="44551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875" y="548005"/>
            <a:ext cx="6805930" cy="45218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122415" y="117447"/>
            <a:ext cx="8992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Comparación y Conclusiones Estratégicas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310393" y="721453"/>
            <a:ext cx="5494789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Ambos modelos tienen una exactitud similar (~</a:t>
            </a:r>
            <a:r>
              <a:rPr lang="en-US" alt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53</a:t>
            </a: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%), pero Random Forest es más confiable para un entorno crítico de seguridad vial porque sus predicciones son más estables ante datos nuevos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6238613" y="738231"/>
            <a:ext cx="54947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El Árbol de Decisión es útil para explicar por qué ocurren los accidentes, mientras que el Random Forest es mejor para predecir con confianza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34260"/>
            <a:ext cx="12192000" cy="4523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665" y="3488305"/>
            <a:ext cx="5646335" cy="3369695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6462926" y="3697792"/>
            <a:ext cx="239325" cy="3160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/>
          <p:cNvSpPr txBox="1"/>
          <p:nvPr/>
        </p:nvSpPr>
        <p:spPr>
          <a:xfrm>
            <a:off x="2539814" y="100569"/>
            <a:ext cx="8229600" cy="460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Análisis de Componentes Principales (PCA)</a:t>
            </a:r>
            <a:endParaRPr lang="es-ES" sz="2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951" y="581866"/>
            <a:ext cx="7308049" cy="2787830"/>
          </a:xfrm>
          <a:prstGeom prst="rect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60477" y="4189233"/>
            <a:ext cx="673220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PC1 concentra la información térmica (temperatura y sensación térmica), reflejando las condiciones generales de calor</a:t>
            </a:r>
            <a:endParaRPr lang="es-ES" sz="15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53602" y="4943994"/>
            <a:ext cx="67322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PC2 combina humedad y presión frente al viento, capturando la dinámica atmosférica</a:t>
            </a:r>
            <a:endParaRPr lang="es-ES" sz="15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60477" y="5571848"/>
            <a:ext cx="67253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PC3 representa escenarios de precipitación y viento asociados a baja visibilidad, es decir, condiciones adversas</a:t>
            </a:r>
            <a:endParaRPr lang="es-ES" sz="15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53602" y="6185150"/>
            <a:ext cx="66486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PC4 y PC5 recogen variaciones adicionales de presión, viento y visibilidad, funcionando como componentes residuales</a:t>
            </a:r>
            <a:endParaRPr lang="es-ES" sz="15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7164"/>
            <a:ext cx="4816851" cy="37396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/>
          <p:cNvSpPr/>
          <p:nvPr/>
        </p:nvSpPr>
        <p:spPr>
          <a:xfrm>
            <a:off x="6261489" y="3317815"/>
            <a:ext cx="5892335" cy="222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/>
          <p:cNvSpPr txBox="1"/>
          <p:nvPr/>
        </p:nvSpPr>
        <p:spPr>
          <a:xfrm>
            <a:off x="2642765" y="223970"/>
            <a:ext cx="69064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Correlación entre </a:t>
            </a:r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componentes</a:t>
            </a: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 principales y severidad</a:t>
            </a:r>
            <a:endParaRPr lang="es-ES" sz="2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495158"/>
            <a:ext cx="12192000" cy="2499615"/>
          </a:xfrm>
          <a:prstGeom prst="rect">
            <a:avLst/>
          </a:prstGeom>
        </p:spPr>
      </p:pic>
      <p:sp>
        <p:nvSpPr>
          <p:cNvPr id="21" name="CuadroTexto 20"/>
          <p:cNvSpPr txBox="1"/>
          <p:nvPr/>
        </p:nvSpPr>
        <p:spPr>
          <a:xfrm>
            <a:off x="245074" y="4487065"/>
            <a:ext cx="11701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Los cinco componentes principales derivados de las variables climáticas presentan correlaciones muy débiles con la severidad de los accidentes (|r| &lt; 0.1)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245075" y="5355765"/>
            <a:ext cx="11701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Este resultado confirma que, aunque el PCA logra una reducción efectiva de 7 a 5 variables conservando aproximadamente 91% de la varianza total, las condiciones climáticas no son un factor determinante en la gravedad de los accidentes</a:t>
            </a:r>
            <a:endParaRPr lang="es-E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931176" y="151002"/>
            <a:ext cx="1082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Clustering</a:t>
            </a:r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 de Accidentes: Método del Codo y K-Means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429235" y="837936"/>
            <a:ext cx="11333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El método del codo se utilizó para determinar el número óptimo de clusters, evaluando la compactación mediante el score (−WCSS). 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15" y="1361156"/>
            <a:ext cx="6174301" cy="5105185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6435755" y="2264464"/>
            <a:ext cx="532700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Los clusters 1 y 3 concentran la mayor parte de las observaciones, lo que indica que el conjunto de datos representan los escenarios más comunes bajo los cuales ocurren los accidentes de tráfico.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El cluster 0 presenta un tamaño intermedio, lo que sugiere que este grupo podría estar asociado a condiciones particulares, como variaciones en la duración del evento, la infraestructura vial o el horario.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El cluster 2 agrupa un número muy reducido de observaciones, representando una fracción mínima del total. La presencia de este cluster indica la existencia de eventos atípicos o extremos que difieren significativamente del comportamiento general. 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389616" y="1310357"/>
            <a:ext cx="5402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El algoritmo K-Means se aplicó con k = 4 sobre datos estandarizados, agrupando los accidentes en clusters con características homogéneas. La distribución resultante es desigual: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65" y="262383"/>
            <a:ext cx="6747283" cy="448610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15579" y="6084689"/>
            <a:ext cx="11579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Distribución de Temperatura: El Cluster 1 tiene la base más ancha en temperaturas bajas, lo que respalda su perfil asociado a condiciones climáticas más frías o matutinas.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7391008" y="356316"/>
            <a:ext cx="44884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La imagen muestra la distribución de variables clave por cluster mediante gráficos tipo violín, lo que permite visualizar la densidad y variabilidad interna de cada grupo: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382926" y="1626605"/>
            <a:ext cx="44126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Distribución de Severidad: Es el gráfico más revelador. Confirma que el Cluster 0 es el único enfocado en accidentes de alta gravedad (niveles 3 y 4), mientras que los clusters 1, 2 y 3 están masivamente concentrados en la severidad 2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391008" y="3248626"/>
            <a:ext cx="44126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Distribución de Humedad: El Cluster 3 se diferencia claramente por presentar los niveles de humedad más altos y constantes, lo que lo define como el perfil de accidentes en condiciones húmedas.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15579" y="5346025"/>
            <a:ext cx="115799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Distribución de duración: Aquí vemos por qué el Cluster 2 es el de "eventos atípicos". Su "cola" es mucho más larga que las demás, lo que indica accidentes que bloquearon el tráfico por tiempos extremadamente prolongados.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23661" y="4789568"/>
            <a:ext cx="11579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Distribución de Hora de Inicio: El Cluster 1 muestra un pico en las primeras horas de la mañana. El Cluster 0 (el más severo) ocurre predominantemente alrededor del mediodía y el Cluster 2 se inclina hacia la tarde-noche</a:t>
            </a: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/>
        </p:nvSpPr>
        <p:spPr>
          <a:xfrm>
            <a:off x="322968" y="4768652"/>
            <a:ext cx="11546064" cy="1890032"/>
          </a:xfrm>
          <a:prstGeom prst="rect">
            <a:avLst/>
          </a:prstGeom>
          <a:solidFill>
            <a:srgbClr val="13D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/>
          <p:cNvSpPr/>
          <p:nvPr/>
        </p:nvSpPr>
        <p:spPr>
          <a:xfrm>
            <a:off x="322968" y="2724224"/>
            <a:ext cx="11546064" cy="1890032"/>
          </a:xfrm>
          <a:prstGeom prst="rect">
            <a:avLst/>
          </a:prstGeom>
          <a:solidFill>
            <a:srgbClr val="FAB0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322968" y="598721"/>
            <a:ext cx="11546064" cy="197110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/>
          <p:cNvSpPr txBox="1"/>
          <p:nvPr/>
        </p:nvSpPr>
        <p:spPr>
          <a:xfrm>
            <a:off x="1551964" y="75501"/>
            <a:ext cx="9404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Respuestas a las Preguntas de Investigación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477469" y="734841"/>
            <a:ext cx="11237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Pregunta 1: ¿Qué factores ambientales y temporales están más fuertemente asociados con la severidad de los accidentes de tráfico?</a:t>
            </a: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477468" y="2844224"/>
            <a:ext cx="11237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Pregunta 2: ¿Existen patrones temporales significativos en la ocurrencia de accidentes (hora del día, día de la semana, estacionalidad)?</a:t>
            </a: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477467" y="4856634"/>
            <a:ext cx="11237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Pregunta 3: ¿Cómo varían las características de los accidentes entre diferentes estados y condiciones climáticas?</a:t>
            </a: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477469" y="1258061"/>
            <a:ext cx="11237061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alt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El mes</a:t>
            </a: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 es el factor dominante en la severidad de los accidentes</a:t>
            </a:r>
            <a:r>
              <a:rPr lang="en-US" alt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Arial Black" panose="020B0A04020102020204" pitchFamily="34" charset="0"/>
              </a:rPr>
              <a:t>reflejando que los meses de mayor demanda y variabilidad climática concentran los mayores impactos</a:t>
            </a:r>
            <a:endParaRPr lang="en-US" altLang="en-U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La ubicación geográfica (estado)</a:t>
            </a:r>
            <a:r>
              <a:rPr lang="en-US" alt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 y la </a:t>
            </a: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  <a:sym typeface="+mn-ea"/>
              </a:rPr>
              <a:t>infraestructura vial (semáforos)</a:t>
            </a:r>
            <a:r>
              <a:rPr lang="en-US" alt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 conforman</a:t>
            </a: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 el segundo</a:t>
            </a:r>
            <a:r>
              <a:rPr lang="en-US" alt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 y tercer</a:t>
            </a: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 predictor</a:t>
            </a:r>
            <a:r>
              <a:rPr lang="en-US" alt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es</a:t>
            </a: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 más importante</a:t>
            </a:r>
            <a:r>
              <a:rPr lang="en-US" alt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s</a:t>
            </a: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El clima y el tiempo no predicen severidad por sí solos; actúan como factores moderadores dentro de contextos de infraestructura.</a:t>
            </a: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477469" y="3379445"/>
            <a:ext cx="1123706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Existen patrones temporales claros en la frecuencia de accidentes (horas pico, días laborales, estacionalidad).</a:t>
            </a: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La influencia temporal en la severidad es secundaria y está mediada por el volumen de tráfico y la infraestructura.</a:t>
            </a: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El tiempo explica cuándo ocurren los accidentes, no qué tan severos son.</a:t>
            </a: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477467" y="5384495"/>
            <a:ext cx="112370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Hay fuertes diferencias regionales: el estado es uno de los predictores más importantes de severidad.</a:t>
            </a: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Las condiciones climáticas muestran efectos contextuales y no universales.</a:t>
            </a: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  <a:latin typeface="Arial Black" panose="020B0A04020102020204" pitchFamily="34" charset="0"/>
              </a:rPr>
              <a:t>No existe una política de seguridad vial única: las intervenciones deben ser específicas por estado.</a:t>
            </a:r>
            <a:endParaRPr lang="es-E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8857</Words>
  <Application>WPS Presentation</Application>
  <PresentationFormat>Panorámica</PresentationFormat>
  <Paragraphs>151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 Black</vt:lpstr>
      <vt:lpstr>Courier New</vt:lpstr>
      <vt:lpstr>Calibri</vt:lpstr>
      <vt:lpstr>Microsoft YaHei</vt:lpstr>
      <vt:lpstr>Arial Unicode MS</vt:lpstr>
      <vt:lpstr>Calibri Light</vt:lpstr>
      <vt:lpstr>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Adriana Boue</dc:creator>
  <cp:lastModifiedBy>cmazo</cp:lastModifiedBy>
  <cp:revision>38</cp:revision>
  <dcterms:created xsi:type="dcterms:W3CDTF">2026-01-11T22:37:00Z</dcterms:created>
  <dcterms:modified xsi:type="dcterms:W3CDTF">2026-01-12T22:58:50Z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77A27BD0CEA44E819DDD912BE994BFEB_12</vt:lpwstr>
  </property>
  <property fmtid="{D5CDD505-2E9C-101B-9397-08002B2CF9AE}" pid="3" name="KSOProductBuildVer">
    <vt:lpwstr>1033-12.2.0.23131</vt:lpwstr>
  </property>
</Properties>
</file>