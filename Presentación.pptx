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64" r:id="rId4"/>
    <p:sldId id="265" r:id="rId5"/>
    <p:sldId id="258" r:id="rId6"/>
    <p:sldId id="259" r:id="rId7"/>
    <p:sldId id="260" r:id="rId8"/>
    <p:sldId id="261" r:id="rId9"/>
    <p:sldId id="262" r:id="rId10"/>
    <p:sldId id="263" r:id="rId11"/>
    <p:sldId id="266" r:id="rId12"/>
    <p:sldId id="267" r:id="rId1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B00A"/>
    <a:srgbClr val="FCAF04"/>
    <a:srgbClr val="13D313"/>
    <a:srgbClr val="255779"/>
    <a:srgbClr val="3274A1"/>
    <a:srgbClr val="6A1A6C"/>
    <a:srgbClr val="7C5378"/>
    <a:srgbClr val="2D223A"/>
    <a:srgbClr val="67001F"/>
    <a:srgbClr val="B404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11" autoAdjust="0"/>
    <p:restoredTop sz="94660"/>
  </p:normalViewPr>
  <p:slideViewPr>
    <p:cSldViewPr snapToGrid="0">
      <p:cViewPr>
        <p:scale>
          <a:sx n="90" d="100"/>
          <a:sy n="90" d="100"/>
        </p:scale>
        <p:origin x="21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B4CCE-9E5C-4D7B-92E4-7FB210B21D7A}" type="datetimeFigureOut">
              <a:rPr lang="es-ES" smtClean="0"/>
              <a:t>18/01/2026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4D487-8D63-415A-B3B9-DEFE2730CE8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B4CCE-9E5C-4D7B-92E4-7FB210B21D7A}" type="datetimeFigureOut">
              <a:rPr lang="es-ES" smtClean="0"/>
              <a:t>18/01/2026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4D487-8D63-415A-B3B9-DEFE2730CE8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B4CCE-9E5C-4D7B-92E4-7FB210B21D7A}" type="datetimeFigureOut">
              <a:rPr lang="es-ES" smtClean="0"/>
              <a:t>18/01/2026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4D487-8D63-415A-B3B9-DEFE2730CE8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B4CCE-9E5C-4D7B-92E4-7FB210B21D7A}" type="datetimeFigureOut">
              <a:rPr lang="es-ES" smtClean="0"/>
              <a:t>18/01/2026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4D487-8D63-415A-B3B9-DEFE2730CE8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B4CCE-9E5C-4D7B-92E4-7FB210B21D7A}" type="datetimeFigureOut">
              <a:rPr lang="es-ES" smtClean="0"/>
              <a:t>18/01/2026</a:t>
            </a:fld>
            <a:endParaRPr lang="es-E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4D487-8D63-415A-B3B9-DEFE2730CE8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B4CCE-9E5C-4D7B-92E4-7FB210B21D7A}" type="datetimeFigureOut">
              <a:rPr lang="es-ES" smtClean="0"/>
              <a:t>18/01/2026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4D487-8D63-415A-B3B9-DEFE2730CE8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B4CCE-9E5C-4D7B-92E4-7FB210B21D7A}" type="datetimeFigureOut">
              <a:rPr lang="es-ES" smtClean="0"/>
              <a:t>18/01/2026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4D487-8D63-415A-B3B9-DEFE2730CE8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B4CCE-9E5C-4D7B-92E4-7FB210B21D7A}" type="datetimeFigureOut">
              <a:rPr lang="es-ES" smtClean="0"/>
              <a:t>18/01/2026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4D487-8D63-415A-B3B9-DEFE2730CE8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B4CCE-9E5C-4D7B-92E4-7FB210B21D7A}" type="datetimeFigureOut">
              <a:rPr lang="es-ES" smtClean="0"/>
              <a:t>18/01/2026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4D487-8D63-415A-B3B9-DEFE2730CE8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B4CCE-9E5C-4D7B-92E4-7FB210B21D7A}" type="datetimeFigureOut">
              <a:rPr lang="es-ES" smtClean="0"/>
              <a:t>18/01/2026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4D487-8D63-415A-B3B9-DEFE2730CE8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B4CCE-9E5C-4D7B-92E4-7FB210B21D7A}" type="datetimeFigureOut">
              <a:rPr lang="es-ES" smtClean="0"/>
              <a:t>18/01/2026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4D487-8D63-415A-B3B9-DEFE2730CE8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EB4CCE-9E5C-4D7B-92E4-7FB210B21D7A}" type="datetimeFigureOut">
              <a:rPr lang="es-ES" smtClean="0"/>
              <a:t>18/01/2026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54D487-8D63-415A-B3B9-DEFE2730CE83}" type="slidenum">
              <a:rPr lang="es-ES" smtClean="0"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: esquinas redondeadas 12"/>
          <p:cNvSpPr/>
          <p:nvPr/>
        </p:nvSpPr>
        <p:spPr>
          <a:xfrm>
            <a:off x="9413160" y="695848"/>
            <a:ext cx="2538998" cy="2733152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Rectángulo: esquinas redondeadas 11"/>
          <p:cNvSpPr/>
          <p:nvPr/>
        </p:nvSpPr>
        <p:spPr>
          <a:xfrm>
            <a:off x="6695205" y="695848"/>
            <a:ext cx="2538998" cy="2733152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Rectángulo: esquinas redondeadas 10"/>
          <p:cNvSpPr/>
          <p:nvPr/>
        </p:nvSpPr>
        <p:spPr>
          <a:xfrm>
            <a:off x="3915871" y="695848"/>
            <a:ext cx="2538998" cy="2733152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 4"/>
          <p:cNvSpPr/>
          <p:nvPr/>
        </p:nvSpPr>
        <p:spPr>
          <a:xfrm>
            <a:off x="-3636" y="0"/>
            <a:ext cx="369270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3"/>
          <p:cNvSpPr txBox="1"/>
          <p:nvPr/>
        </p:nvSpPr>
        <p:spPr>
          <a:xfrm>
            <a:off x="0" y="397973"/>
            <a:ext cx="373045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Arial Black" panose="020B0A04020102020204" pitchFamily="34" charset="0"/>
              </a:rPr>
              <a:t>An</a:t>
            </a:r>
            <a:r>
              <a:rPr lang="es-ES" sz="3200" dirty="0">
                <a:solidFill>
                  <a:schemeClr val="bg1"/>
                </a:solidFill>
                <a:latin typeface="Arial Black" panose="020B0A04020102020204" pitchFamily="34" charset="0"/>
              </a:rPr>
              <a:t>álisis</a:t>
            </a:r>
            <a:r>
              <a:rPr lang="en-US" sz="3200" dirty="0">
                <a:solidFill>
                  <a:schemeClr val="bg1"/>
                </a:solidFill>
                <a:latin typeface="Arial Black" panose="020B0A04020102020204" pitchFamily="34" charset="0"/>
              </a:rPr>
              <a:t> Estadístico de </a:t>
            </a:r>
            <a:r>
              <a:rPr lang="es-ES" sz="3200" dirty="0">
                <a:solidFill>
                  <a:schemeClr val="bg1"/>
                </a:solidFill>
                <a:latin typeface="Arial Black" panose="020B0A04020102020204" pitchFamily="34" charset="0"/>
              </a:rPr>
              <a:t>Accidentes</a:t>
            </a:r>
            <a:r>
              <a:rPr lang="en-US" sz="32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</a:p>
          <a:p>
            <a:pPr algn="ctr"/>
            <a:r>
              <a:rPr lang="en-US" sz="3200" dirty="0">
                <a:solidFill>
                  <a:schemeClr val="bg1"/>
                </a:solidFill>
                <a:latin typeface="Arial Black" panose="020B0A04020102020204" pitchFamily="34" charset="0"/>
              </a:rPr>
              <a:t>de </a:t>
            </a:r>
            <a:r>
              <a:rPr lang="es-ES" sz="3200" dirty="0">
                <a:solidFill>
                  <a:schemeClr val="bg1"/>
                </a:solidFill>
                <a:latin typeface="Arial Black" panose="020B0A04020102020204" pitchFamily="34" charset="0"/>
              </a:rPr>
              <a:t>Tráfico</a:t>
            </a:r>
            <a:r>
              <a:rPr lang="en-US" sz="3200" dirty="0">
                <a:solidFill>
                  <a:schemeClr val="bg1"/>
                </a:solidFill>
                <a:latin typeface="Arial Black" panose="020B0A04020102020204" pitchFamily="34" charset="0"/>
              </a:rPr>
              <a:t> en Estados Unidos</a:t>
            </a:r>
            <a:endParaRPr lang="es-ES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CuadroTexto 5"/>
          <p:cNvSpPr txBox="1"/>
          <p:nvPr/>
        </p:nvSpPr>
        <p:spPr>
          <a:xfrm>
            <a:off x="229955" y="4521035"/>
            <a:ext cx="322552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dirty="0">
                <a:solidFill>
                  <a:schemeClr val="bg1"/>
                </a:solidFill>
                <a:latin typeface="Arial Black" panose="020B0A04020102020204" pitchFamily="34" charset="0"/>
              </a:rPr>
              <a:t>Enero 2026</a:t>
            </a:r>
          </a:p>
          <a:p>
            <a:pPr algn="ctr"/>
            <a:endParaRPr lang="es-ES" sz="20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algn="ctr"/>
            <a:r>
              <a:rPr lang="es-ES" sz="2000" dirty="0">
                <a:solidFill>
                  <a:schemeClr val="bg1"/>
                </a:solidFill>
                <a:latin typeface="Arial Black" panose="020B0A04020102020204" pitchFamily="34" charset="0"/>
              </a:rPr>
              <a:t>Kelen Alfaro García            Adriana Boué García       Carlos Mazorra Matos</a:t>
            </a:r>
          </a:p>
          <a:p>
            <a:pPr algn="ctr"/>
            <a:endParaRPr lang="es-ES" sz="20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CuadroTexto 6"/>
          <p:cNvSpPr txBox="1"/>
          <p:nvPr/>
        </p:nvSpPr>
        <p:spPr>
          <a:xfrm>
            <a:off x="5185370" y="136363"/>
            <a:ext cx="59688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 Black" panose="020B0A04020102020204" pitchFamily="34" charset="0"/>
              </a:rPr>
              <a:t>Preguntas de Investigación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3945298" y="905302"/>
            <a:ext cx="248564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solidFill>
                  <a:schemeClr val="bg1"/>
                </a:solidFill>
                <a:effectLst/>
                <a:latin typeface="Arial Black" panose="020B0A04020102020204" pitchFamily="34" charset="0"/>
              </a:rPr>
              <a:t>¿Qué factores ambientales y temporales están más fuertemente asociados con la severidad de los accidentes de tráfico?</a:t>
            </a:r>
          </a:p>
        </p:txBody>
      </p:sp>
      <p:sp>
        <p:nvSpPr>
          <p:cNvPr id="9" name="CuadroTexto 8"/>
          <p:cNvSpPr txBox="1"/>
          <p:nvPr/>
        </p:nvSpPr>
        <p:spPr>
          <a:xfrm>
            <a:off x="6721880" y="905302"/>
            <a:ext cx="248564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>
                <a:solidFill>
                  <a:schemeClr val="bg1"/>
                </a:solidFill>
                <a:effectLst/>
                <a:latin typeface="Arial Black" panose="020B0A04020102020204" pitchFamily="34" charset="0"/>
              </a:rPr>
              <a:t>¿Existen patrones temporales significativos en la ocurrencia de accidentes (hora del día, día de la semana, estacionalidad)?</a:t>
            </a:r>
            <a:endParaRPr lang="es-ES" b="0" dirty="0">
              <a:solidFill>
                <a:schemeClr val="bg1"/>
              </a:solidFill>
              <a:effectLst/>
              <a:latin typeface="Arial Black" panose="020B0A04020102020204" pitchFamily="34" charset="0"/>
            </a:endParaRPr>
          </a:p>
        </p:txBody>
      </p:sp>
      <p:sp>
        <p:nvSpPr>
          <p:cNvPr id="10" name="CuadroTexto 9"/>
          <p:cNvSpPr txBox="1"/>
          <p:nvPr/>
        </p:nvSpPr>
        <p:spPr>
          <a:xfrm>
            <a:off x="9325261" y="905302"/>
            <a:ext cx="271479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>
                <a:solidFill>
                  <a:schemeClr val="bg1"/>
                </a:solidFill>
                <a:effectLst/>
                <a:latin typeface="Arial Black" panose="020B0A04020102020204" pitchFamily="34" charset="0"/>
              </a:rPr>
              <a:t>¿Cómo varían las características de los accidentes entre diferentes estados y condiciones climáticas?</a:t>
            </a:r>
            <a:endParaRPr lang="es-ES" b="0" dirty="0">
              <a:solidFill>
                <a:schemeClr val="bg1"/>
              </a:solidFill>
              <a:effectLst/>
              <a:latin typeface="Arial Black" panose="020B0A04020102020204" pitchFamily="34" charset="0"/>
            </a:endParaRPr>
          </a:p>
          <a:p>
            <a:pPr algn="ctr"/>
            <a:endParaRPr lang="es-ES" dirty="0">
              <a:solidFill>
                <a:schemeClr val="bg1"/>
              </a:solidFill>
              <a:effectLst/>
              <a:latin typeface="Arial Black" panose="020B0A04020102020204" pitchFamily="34" charset="0"/>
            </a:endParaRPr>
          </a:p>
        </p:txBody>
      </p:sp>
      <p:sp>
        <p:nvSpPr>
          <p:cNvPr id="14" name="CuadroTexto 13"/>
          <p:cNvSpPr txBox="1"/>
          <p:nvPr/>
        </p:nvSpPr>
        <p:spPr>
          <a:xfrm>
            <a:off x="4432161" y="3829139"/>
            <a:ext cx="70650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Principales Variables</a:t>
            </a:r>
          </a:p>
        </p:txBody>
      </p:sp>
      <p:sp>
        <p:nvSpPr>
          <p:cNvPr id="16" name="CuadroTexto 15"/>
          <p:cNvSpPr txBox="1"/>
          <p:nvPr/>
        </p:nvSpPr>
        <p:spPr>
          <a:xfrm>
            <a:off x="4770112" y="4906132"/>
            <a:ext cx="1684757" cy="464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 Black" panose="020B0A04020102020204" pitchFamily="34" charset="0"/>
              </a:rPr>
              <a:t>Temporales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 Black" panose="020B0A04020102020204" pitchFamily="34" charset="0"/>
            </a:endParaRPr>
          </a:p>
        </p:txBody>
      </p:sp>
      <p:sp>
        <p:nvSpPr>
          <p:cNvPr id="17" name="CuadroTexto 16"/>
          <p:cNvSpPr txBox="1"/>
          <p:nvPr/>
        </p:nvSpPr>
        <p:spPr>
          <a:xfrm>
            <a:off x="4783412" y="5342092"/>
            <a:ext cx="1671457" cy="464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 Black" panose="020B0A04020102020204" pitchFamily="34" charset="0"/>
              </a:rPr>
              <a:t>Ubicación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 Black" panose="020B0A04020102020204" pitchFamily="34" charset="0"/>
            </a:endParaRPr>
          </a:p>
        </p:txBody>
      </p:sp>
      <p:sp>
        <p:nvSpPr>
          <p:cNvPr id="18" name="CuadroTexto 17"/>
          <p:cNvSpPr txBox="1"/>
          <p:nvPr/>
        </p:nvSpPr>
        <p:spPr>
          <a:xfrm>
            <a:off x="4791631" y="5906569"/>
            <a:ext cx="14991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 Black" panose="020B0A04020102020204" pitchFamily="34" charset="0"/>
              </a:rPr>
              <a:t>Severidad 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 Black" panose="020B0A04020102020204" pitchFamily="34" charset="0"/>
            </a:endParaRPr>
          </a:p>
        </p:txBody>
      </p:sp>
      <p:sp>
        <p:nvSpPr>
          <p:cNvPr id="19" name="CuadroTexto 18"/>
          <p:cNvSpPr txBox="1"/>
          <p:nvPr/>
        </p:nvSpPr>
        <p:spPr>
          <a:xfrm>
            <a:off x="4783413" y="6265451"/>
            <a:ext cx="3113022" cy="464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 Black" panose="020B0A04020102020204" pitchFamily="34" charset="0"/>
              </a:rPr>
              <a:t>Distancia y Visibilidad 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 Black" panose="020B0A04020102020204" pitchFamily="34" charset="0"/>
            </a:endParaRPr>
          </a:p>
        </p:txBody>
      </p:sp>
      <p:sp>
        <p:nvSpPr>
          <p:cNvPr id="20" name="CuadroTexto 19"/>
          <p:cNvSpPr txBox="1"/>
          <p:nvPr/>
        </p:nvSpPr>
        <p:spPr>
          <a:xfrm>
            <a:off x="4781170" y="4417403"/>
            <a:ext cx="1964689" cy="464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defRPr/>
            </a:pPr>
            <a:r>
              <a:rPr kumimoji="0" lang="es-ES" altLang="es-ES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Identificación</a:t>
            </a:r>
            <a:r>
              <a:rPr kumimoji="0" lang="es-ES" altLang="es-ES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1" name="Gráfico 20" descr="Identificación de empleado con relleno sólido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94359" y="4420627"/>
            <a:ext cx="464744" cy="464744"/>
          </a:xfrm>
          <a:prstGeom prst="rect">
            <a:avLst/>
          </a:prstGeom>
        </p:spPr>
      </p:pic>
      <p:pic>
        <p:nvPicPr>
          <p:cNvPr id="22" name="Gráfico 21" descr="Calendario con relleno sólido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73701" y="4904740"/>
            <a:ext cx="517236" cy="437352"/>
          </a:xfrm>
          <a:prstGeom prst="rect">
            <a:avLst/>
          </a:prstGeom>
        </p:spPr>
      </p:pic>
      <p:pic>
        <p:nvPicPr>
          <p:cNvPr id="23" name="Gráfico 22" descr="Visión baja con relleno sólido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68401" y="6265451"/>
            <a:ext cx="516659" cy="516659"/>
          </a:xfrm>
          <a:prstGeom prst="rect">
            <a:avLst/>
          </a:prstGeom>
        </p:spPr>
      </p:pic>
      <p:pic>
        <p:nvPicPr>
          <p:cNvPr id="24" name="Gráfico 23" descr="Marcador con relleno sólido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117404" y="5371046"/>
            <a:ext cx="646149" cy="465344"/>
          </a:xfrm>
          <a:prstGeom prst="rect">
            <a:avLst/>
          </a:prstGeom>
        </p:spPr>
      </p:pic>
      <p:pic>
        <p:nvPicPr>
          <p:cNvPr id="25" name="Gráfico 24" descr="Cráneo con relleno sólido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168401" y="5813000"/>
            <a:ext cx="516659" cy="452451"/>
          </a:xfrm>
          <a:prstGeom prst="rect">
            <a:avLst/>
          </a:prstGeom>
        </p:spPr>
      </p:pic>
      <p:pic>
        <p:nvPicPr>
          <p:cNvPr id="26" name="Gráfico 25" descr="Nube con relleno sólido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59409" y="4376442"/>
            <a:ext cx="546664" cy="546664"/>
          </a:xfrm>
          <a:prstGeom prst="rect">
            <a:avLst/>
          </a:prstGeom>
        </p:spPr>
      </p:pic>
      <p:pic>
        <p:nvPicPr>
          <p:cNvPr id="27" name="Gráfico 26" descr="Portapapeles con relleno sólido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113360" y="5865475"/>
            <a:ext cx="473267" cy="416818"/>
          </a:xfrm>
          <a:prstGeom prst="rect">
            <a:avLst/>
          </a:prstGeom>
        </p:spPr>
      </p:pic>
      <p:pic>
        <p:nvPicPr>
          <p:cNvPr id="28" name="Gráfico 27" descr="Señal de negación con relleno sólido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126112" y="4903201"/>
            <a:ext cx="399867" cy="399867"/>
          </a:xfrm>
          <a:prstGeom prst="rect">
            <a:avLst/>
          </a:prstGeom>
        </p:spPr>
      </p:pic>
      <p:pic>
        <p:nvPicPr>
          <p:cNvPr id="29" name="Gráfico 28" descr="Do con relleno sólido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096107" y="5347638"/>
            <a:ext cx="473267" cy="473267"/>
          </a:xfrm>
          <a:prstGeom prst="rect">
            <a:avLst/>
          </a:prstGeom>
        </p:spPr>
      </p:pic>
      <p:sp>
        <p:nvSpPr>
          <p:cNvPr id="30" name="Rectangle 1"/>
          <p:cNvSpPr>
            <a:spLocks noChangeArrowheads="1"/>
          </p:cNvSpPr>
          <p:nvPr/>
        </p:nvSpPr>
        <p:spPr bwMode="auto">
          <a:xfrm rot="10800000" flipV="1">
            <a:off x="8732446" y="5800708"/>
            <a:ext cx="3202825" cy="4647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 Black" panose="020B0A04020102020204" pitchFamily="34" charset="0"/>
              </a:rPr>
              <a:t>Descripción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 Black" panose="020B0A04020102020204" pitchFamily="34" charset="0"/>
              </a:rPr>
              <a:t> </a:t>
            </a:r>
          </a:p>
        </p:txBody>
      </p:sp>
      <p:sp>
        <p:nvSpPr>
          <p:cNvPr id="31" name="CuadroTexto 30"/>
          <p:cNvSpPr txBox="1"/>
          <p:nvPr/>
        </p:nvSpPr>
        <p:spPr>
          <a:xfrm>
            <a:off x="8732445" y="4417403"/>
            <a:ext cx="3202826" cy="464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 Black" panose="020B0A04020102020204" pitchFamily="34" charset="0"/>
              </a:rPr>
              <a:t>Clima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 Black" panose="020B0A04020102020204" pitchFamily="34" charset="0"/>
              </a:rPr>
              <a:t> </a:t>
            </a:r>
          </a:p>
        </p:txBody>
      </p:sp>
      <p:sp>
        <p:nvSpPr>
          <p:cNvPr id="32" name="CuadroTexto 31"/>
          <p:cNvSpPr txBox="1"/>
          <p:nvPr/>
        </p:nvSpPr>
        <p:spPr>
          <a:xfrm>
            <a:off x="8732445" y="4972095"/>
            <a:ext cx="2749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 Black" panose="020B0A04020102020204" pitchFamily="34" charset="0"/>
              </a:rPr>
              <a:t>Infraestructura Vial </a:t>
            </a: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3" name="CuadroTexto 32"/>
          <p:cNvSpPr txBox="1"/>
          <p:nvPr/>
        </p:nvSpPr>
        <p:spPr>
          <a:xfrm>
            <a:off x="8710523" y="5353407"/>
            <a:ext cx="2106277" cy="464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 Black" panose="020B0A04020102020204" pitchFamily="34" charset="0"/>
              </a:rPr>
              <a:t>Periodo del Día 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 Black" panose="020B0A040201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ángulo 21"/>
          <p:cNvSpPr/>
          <p:nvPr/>
        </p:nvSpPr>
        <p:spPr>
          <a:xfrm>
            <a:off x="0" y="738231"/>
            <a:ext cx="12192000" cy="38893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CuadroTexto 15"/>
          <p:cNvSpPr txBox="1"/>
          <p:nvPr/>
        </p:nvSpPr>
        <p:spPr>
          <a:xfrm>
            <a:off x="2104373" y="215011"/>
            <a:ext cx="110479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Severidad y Clima: Resultados del Análisis</a:t>
            </a:r>
          </a:p>
        </p:txBody>
      </p:sp>
      <p:pic>
        <p:nvPicPr>
          <p:cNvPr id="18" name="Imagen 1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890" y="738231"/>
            <a:ext cx="4994694" cy="3889331"/>
          </a:xfrm>
          <a:prstGeom prst="rect">
            <a:avLst/>
          </a:prstGeom>
        </p:spPr>
      </p:pic>
      <p:pic>
        <p:nvPicPr>
          <p:cNvPr id="20" name="Imagen 1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473" y="1056818"/>
            <a:ext cx="6553926" cy="3570744"/>
          </a:xfrm>
          <a:prstGeom prst="rect">
            <a:avLst/>
          </a:prstGeom>
        </p:spPr>
      </p:pic>
      <p:sp>
        <p:nvSpPr>
          <p:cNvPr id="21" name="CuadroTexto 20"/>
          <p:cNvSpPr txBox="1"/>
          <p:nvPr/>
        </p:nvSpPr>
        <p:spPr>
          <a:xfrm>
            <a:off x="212255" y="4946149"/>
            <a:ext cx="117674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Courier New" panose="02070309020205020404" pitchFamily="49" charset="0"/>
              <a:buChar char="o"/>
            </a:pPr>
            <a:r>
              <a:rPr lang="es-E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El mapa de calor de correlaciones confirma que la severidad tiene correlaciones muy bajas con variables climáticas y de distancia (|r| &lt; 0.1)</a:t>
            </a:r>
          </a:p>
        </p:txBody>
      </p:sp>
      <p:sp>
        <p:nvSpPr>
          <p:cNvPr id="23" name="CuadroTexto 22"/>
          <p:cNvSpPr txBox="1"/>
          <p:nvPr/>
        </p:nvSpPr>
        <p:spPr>
          <a:xfrm>
            <a:off x="212255" y="5530924"/>
            <a:ext cx="1176749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Courier New" panose="02070309020205020404" pitchFamily="49" charset="0"/>
              <a:buChar char="o"/>
            </a:pPr>
            <a:r>
              <a:rPr lang="es-E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La gráfica de severidad por las 8 condiciones climáticas más frecuentes muestra que la mediana de severidad se mantiene en nivel 2 para todas las condiciones. No se observan diferencias sustanciales entre condiciones como "Fair", "Cloudy", "Rain" u otras, lo que indica que el tipo de clima registrado no discrimina significativamente la gravedad del accidente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692" y="679504"/>
            <a:ext cx="5551428" cy="2984844"/>
          </a:xfrm>
          <a:prstGeom prst="rect">
            <a:avLst/>
          </a:prstGeom>
        </p:spPr>
      </p:pic>
      <p:sp>
        <p:nvSpPr>
          <p:cNvPr id="6" name="CuadroTexto 5"/>
          <p:cNvSpPr txBox="1"/>
          <p:nvPr/>
        </p:nvSpPr>
        <p:spPr>
          <a:xfrm>
            <a:off x="2445401" y="156284"/>
            <a:ext cx="76648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Severidad-Hora y Severidad-Ubicaci</a:t>
            </a:r>
            <a:r>
              <a:rPr lang="es-E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ón</a:t>
            </a:r>
            <a:endParaRPr lang="es-ES" sz="2800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CuadroTexto 6"/>
          <p:cNvSpPr txBox="1"/>
          <p:nvPr/>
        </p:nvSpPr>
        <p:spPr>
          <a:xfrm>
            <a:off x="159333" y="820741"/>
            <a:ext cx="591269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El conteo de accidentes por hora revela un patrón claramente asociado a los ciclos de actividad vehicular diaria. Se identifican dos picos principales:</a:t>
            </a:r>
          </a:p>
          <a:p>
            <a:pPr algn="just"/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 - Pico matutino (6:00 - 9:00): Corresponde a las horas de desplazamiento hacia el trabajo y escuelas.</a:t>
            </a:r>
          </a:p>
          <a:p>
            <a:pPr algn="just"/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 - Pico vespertino (15:00 - 18:00): Coincide con el regreso a casa y la salida de actividades laborales.</a:t>
            </a:r>
          </a:p>
        </p:txBody>
      </p:sp>
      <p:sp>
        <p:nvSpPr>
          <p:cNvPr id="9" name="CuadroTexto 8"/>
          <p:cNvSpPr txBox="1"/>
          <p:nvPr/>
        </p:nvSpPr>
        <p:spPr>
          <a:xfrm>
            <a:off x="214210" y="2300807"/>
            <a:ext cx="59057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- La severidad 2 domina en todas las horas, manteniendo el patrón general del dataset</a:t>
            </a: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393" y="2890017"/>
            <a:ext cx="5305693" cy="3940257"/>
          </a:xfrm>
          <a:prstGeom prst="rect">
            <a:avLst/>
          </a:prstGeom>
        </p:spPr>
      </p:pic>
      <p:sp>
        <p:nvSpPr>
          <p:cNvPr id="11" name="CuadroTexto 10"/>
          <p:cNvSpPr txBox="1"/>
          <p:nvPr/>
        </p:nvSpPr>
        <p:spPr>
          <a:xfrm>
            <a:off x="6072029" y="4162855"/>
            <a:ext cx="592481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- La severidad promedio se mantiene cercana al nivel 2 en todos los estados, consistente con el patrón general del dataset.</a:t>
            </a:r>
          </a:p>
          <a:p>
            <a:pPr algn="just"/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 - Sin embargo, existen variaciones notables: algunos estados muestran severidad promedio ligeramente superior (más cerca de 2.3-2.4) mientras otros están más cerca de 2.0.</a:t>
            </a:r>
          </a:p>
          <a:p>
            <a:pPr algn="just"/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 - No hay una correlación directa entre el volumen de accidentes y la severidad promedio. Por ejemplo, California tiene muchos accidentes pero no necesariamente la mayor severidad promedio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/>
          <p:cNvSpPr/>
          <p:nvPr/>
        </p:nvSpPr>
        <p:spPr>
          <a:xfrm>
            <a:off x="0" y="0"/>
            <a:ext cx="6887361" cy="68789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41" y="990172"/>
            <a:ext cx="5221234" cy="4005080"/>
          </a:xfrm>
          <a:prstGeom prst="rect">
            <a:avLst/>
          </a:prstGeom>
        </p:spPr>
      </p:pic>
      <p:sp>
        <p:nvSpPr>
          <p:cNvPr id="9" name="CuadroTexto 8"/>
          <p:cNvSpPr txBox="1"/>
          <p:nvPr/>
        </p:nvSpPr>
        <p:spPr>
          <a:xfrm>
            <a:off x="230454" y="126106"/>
            <a:ext cx="6820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>
                <a:solidFill>
                  <a:schemeClr val="bg1"/>
                </a:solidFill>
                <a:latin typeface="Arial Black" panose="020B0A04020102020204" pitchFamily="34" charset="0"/>
              </a:rPr>
              <a:t>Relación entre Severidad y Duración </a:t>
            </a:r>
          </a:p>
        </p:txBody>
      </p:sp>
      <p:sp>
        <p:nvSpPr>
          <p:cNvPr id="10" name="CuadroTexto 9"/>
          <p:cNvSpPr txBox="1"/>
          <p:nvPr/>
        </p:nvSpPr>
        <p:spPr>
          <a:xfrm>
            <a:off x="5553512" y="751344"/>
            <a:ext cx="6550647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Observaciones principales</a:t>
            </a:r>
          </a:p>
          <a:p>
            <a:pPr algn="just"/>
            <a:endParaRPr lang="es-ES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  <a:p>
            <a:pPr algn="just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- Tendencia creciente: A medida que aumenta el nivel de severidad, la duración mediana del accidente también incrementa. Los accidentes de severidad 4 tienen una duración notablemente mayor que los de severidad 1 o 2.</a:t>
            </a:r>
          </a:p>
          <a:p>
            <a:pPr algn="just"/>
            <a:endParaRPr lang="es-ES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  <a:p>
            <a:pPr algn="just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- Mayor dispersión en severidades altas: Los accidentes más graves (severidad 3 y 4) muestran cajas más amplias y bigotes más extensos, indicando mayor variabilidad en los tiempos de resolución.</a:t>
            </a:r>
          </a:p>
          <a:p>
            <a:pPr algn="just"/>
            <a:endParaRPr lang="es-ES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  <a:p>
            <a:pPr algn="just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- Outliers en todos los niveles: Se observan valores atípicos en todas las categorías, pero son más frecuentes y extremos en severidades bajas, posiblemente debido al mayor volumen de datos en esas categorías.</a:t>
            </a:r>
          </a:p>
        </p:txBody>
      </p:sp>
      <p:sp>
        <p:nvSpPr>
          <p:cNvPr id="12" name="CuadroTexto 11"/>
          <p:cNvSpPr txBox="1"/>
          <p:nvPr/>
        </p:nvSpPr>
        <p:spPr>
          <a:xfrm>
            <a:off x="87840" y="5131456"/>
            <a:ext cx="5348317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NOTA</a:t>
            </a: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: </a:t>
            </a:r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La duración en este dataset representa el tiempo que el incidente afectó el tráfico (desde `Start Time` hasta `End Time`), no necesariamente la gravedad de las lesiones. Por ello, esta variable podría considerarse más como una **consecuencia de la severidad** que como un predictor independiente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/>
          <p:cNvSpPr txBox="1"/>
          <p:nvPr/>
        </p:nvSpPr>
        <p:spPr>
          <a:xfrm>
            <a:off x="1906530" y="86879"/>
            <a:ext cx="84834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Árbol de Decisión, Resultados del Modelo</a:t>
            </a:r>
          </a:p>
        </p:txBody>
      </p:sp>
      <p:sp>
        <p:nvSpPr>
          <p:cNvPr id="11" name="CuadroTexto 10"/>
          <p:cNvSpPr txBox="1"/>
          <p:nvPr/>
        </p:nvSpPr>
        <p:spPr>
          <a:xfrm>
            <a:off x="162961" y="4902317"/>
            <a:ext cx="2522290" cy="614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es-ES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Exactitud: </a:t>
            </a:r>
            <a:r>
              <a:rPr lang="en-US" altLang="es-ES" sz="1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52</a:t>
            </a:r>
            <a:r>
              <a:rPr lang="es-ES" sz="1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.</a:t>
            </a:r>
            <a:r>
              <a:rPr lang="en-US" altLang="es-ES" sz="1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0</a:t>
            </a:r>
            <a:r>
              <a:rPr lang="es-ES" sz="1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9%</a:t>
            </a:r>
            <a:endParaRPr lang="es-ES" sz="1600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12" name="CuadroTexto 11"/>
          <p:cNvSpPr txBox="1"/>
          <p:nvPr/>
        </p:nvSpPr>
        <p:spPr>
          <a:xfrm>
            <a:off x="162961" y="5535515"/>
            <a:ext cx="11866077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Muestra un sesgo hacia la predicci</a:t>
            </a:r>
            <a:r>
              <a:rPr kumimoji="0" lang="" alt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ón</a:t>
            </a:r>
            <a:r>
              <a:rPr kumimoji="0" lang="en-US" alt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 de la severidad 1 lo que 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sugiere que los accidentes con menor impacto en tráfico tienen características más distintivas y predecibles que los de alto impacto</a:t>
            </a:r>
          </a:p>
        </p:txBody>
      </p:sp>
      <p:sp>
        <p:nvSpPr>
          <p:cNvPr id="13" name="CuadroTexto 12"/>
          <p:cNvSpPr txBox="1"/>
          <p:nvPr/>
        </p:nvSpPr>
        <p:spPr>
          <a:xfrm>
            <a:off x="162961" y="6137935"/>
            <a:ext cx="1189735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s-ES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Factores Principales (Top 3):</a:t>
            </a: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 Identificó </a:t>
            </a:r>
            <a:r>
              <a:rPr kumimoji="0" lang="en-US" altLang="es-ES" sz="1600" b="0" i="1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Mes</a:t>
            </a: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, </a:t>
            </a:r>
            <a:r>
              <a:rPr kumimoji="0" lang="es-ES" sz="1600" b="0" i="1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Estado</a:t>
            </a: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 y </a:t>
            </a:r>
            <a:r>
              <a:rPr kumimoji="0" lang="es-ES" sz="1600" b="0" i="1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Presencia de Semáforo</a:t>
            </a: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 como las variables más importantes para dividir los datos.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195" y="547370"/>
            <a:ext cx="5342255" cy="454279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2605" y="610235"/>
            <a:ext cx="6457950" cy="42913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/>
          <p:cNvSpPr txBox="1"/>
          <p:nvPr/>
        </p:nvSpPr>
        <p:spPr>
          <a:xfrm>
            <a:off x="1906530" y="86879"/>
            <a:ext cx="84834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Random Forest, Resultados del Modelo</a:t>
            </a:r>
          </a:p>
        </p:txBody>
      </p:sp>
      <p:sp>
        <p:nvSpPr>
          <p:cNvPr id="11" name="CuadroTexto 10"/>
          <p:cNvSpPr txBox="1"/>
          <p:nvPr/>
        </p:nvSpPr>
        <p:spPr>
          <a:xfrm>
            <a:off x="162961" y="4902317"/>
            <a:ext cx="2522290" cy="614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es-ES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Exactitud: </a:t>
            </a:r>
            <a:r>
              <a:rPr lang="en-US" altLang="es-ES" sz="1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54</a:t>
            </a:r>
            <a:r>
              <a:rPr lang="es-ES" sz="1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.</a:t>
            </a:r>
            <a:r>
              <a:rPr lang="en-US" altLang="es-ES" sz="1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27</a:t>
            </a:r>
            <a:r>
              <a:rPr lang="es-ES" sz="1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%</a:t>
            </a:r>
            <a:endParaRPr lang="es-ES" sz="1600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12" name="CuadroTexto 11"/>
          <p:cNvSpPr txBox="1"/>
          <p:nvPr/>
        </p:nvSpPr>
        <p:spPr>
          <a:xfrm>
            <a:off x="162961" y="5535515"/>
            <a:ext cx="11866077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Supera al </a:t>
            </a:r>
            <a:r>
              <a:rPr kumimoji="0" lang="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Árbol de Decisión 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al combinar múltiples árboles entrenados en muestras bootstrap con selección aleatoria de features</a:t>
            </a:r>
            <a:r>
              <a:rPr kumimoji="0" lang="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 </a:t>
            </a: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reduce la varianza y mejora la estabilidad predictiva.</a:t>
            </a:r>
            <a:r>
              <a:rPr kumimoji="0" lang="en-US" alt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13" name="CuadroTexto 12"/>
          <p:cNvSpPr txBox="1"/>
          <p:nvPr/>
        </p:nvSpPr>
        <p:spPr>
          <a:xfrm>
            <a:off x="162961" y="6137935"/>
            <a:ext cx="1189735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" alt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Mantiene el sesgo hacia la predicción de la severidad 1 aunque en menor cantidad y mantiene a Mes, Estado y Presencia de Semáforo como varibles más importantes a la hora de predecir.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5" y="614680"/>
            <a:ext cx="5238115" cy="445516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2875" y="548005"/>
            <a:ext cx="6805930" cy="45218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/>
          <p:cNvSpPr txBox="1"/>
          <p:nvPr/>
        </p:nvSpPr>
        <p:spPr>
          <a:xfrm>
            <a:off x="2122415" y="117447"/>
            <a:ext cx="89929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Comparación y Conclusiones Estratégicas</a:t>
            </a:r>
            <a:endParaRPr lang="es-ES" sz="2800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CuadroTexto 6"/>
          <p:cNvSpPr txBox="1"/>
          <p:nvPr/>
        </p:nvSpPr>
        <p:spPr>
          <a:xfrm>
            <a:off x="310393" y="721453"/>
            <a:ext cx="5494789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Ambos modelos tienen una exactitud similar (~</a:t>
            </a:r>
            <a:r>
              <a:rPr lang="en-US" altLang="es-ES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53</a:t>
            </a: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%), pero Random Forest es más confiable para un entorno crítico de seguridad vial porque sus predicciones son más estables ante datos nuevos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6238613" y="738231"/>
            <a:ext cx="549478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El Árbol de Decisión es útil para explicar por qué ocurren los accidentes, mientras que el Random Forest es mejor para predecir con confianza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34260"/>
            <a:ext cx="12192000" cy="45237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n 1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5665" y="3488305"/>
            <a:ext cx="5646335" cy="3369695"/>
          </a:xfrm>
          <a:prstGeom prst="rect">
            <a:avLst/>
          </a:prstGeom>
        </p:spPr>
      </p:pic>
      <p:sp>
        <p:nvSpPr>
          <p:cNvPr id="26" name="Rectángulo 25"/>
          <p:cNvSpPr/>
          <p:nvPr/>
        </p:nvSpPr>
        <p:spPr>
          <a:xfrm>
            <a:off x="6462926" y="3697792"/>
            <a:ext cx="239325" cy="31602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/>
          <p:cNvSpPr txBox="1"/>
          <p:nvPr/>
        </p:nvSpPr>
        <p:spPr>
          <a:xfrm>
            <a:off x="2539814" y="100569"/>
            <a:ext cx="8229600" cy="460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Análisis de Componentes Principales (PCA)</a:t>
            </a:r>
            <a:endParaRPr lang="es-ES" sz="2400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951" y="714245"/>
            <a:ext cx="7308049" cy="2787830"/>
          </a:xfrm>
          <a:prstGeom prst="rect">
            <a:avLst/>
          </a:prstGeom>
        </p:spPr>
      </p:pic>
      <p:sp>
        <p:nvSpPr>
          <p:cNvPr id="19" name="CuadroTexto 18"/>
          <p:cNvSpPr txBox="1"/>
          <p:nvPr/>
        </p:nvSpPr>
        <p:spPr>
          <a:xfrm>
            <a:off x="94344" y="3986033"/>
            <a:ext cx="6732209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PC1 concentra la información térmica (temperatura y sensación térmica), reflejando las condiciones generales de calor</a:t>
            </a:r>
          </a:p>
        </p:txBody>
      </p:sp>
      <p:sp>
        <p:nvSpPr>
          <p:cNvPr id="20" name="CuadroTexto 19"/>
          <p:cNvSpPr txBox="1"/>
          <p:nvPr/>
        </p:nvSpPr>
        <p:spPr>
          <a:xfrm>
            <a:off x="87469" y="4740794"/>
            <a:ext cx="673220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PC2 combina humedad y presión frente al viento, capturando la dinámica atmosférica</a:t>
            </a:r>
          </a:p>
        </p:txBody>
      </p:sp>
      <p:sp>
        <p:nvSpPr>
          <p:cNvPr id="21" name="CuadroTexto 20"/>
          <p:cNvSpPr txBox="1"/>
          <p:nvPr/>
        </p:nvSpPr>
        <p:spPr>
          <a:xfrm>
            <a:off x="94344" y="5368648"/>
            <a:ext cx="67253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PC3 representa escenarios de precipitación y viento asociados a baja visibilidad, es decir, condiciones adversas</a:t>
            </a:r>
          </a:p>
        </p:txBody>
      </p:sp>
      <p:sp>
        <p:nvSpPr>
          <p:cNvPr id="22" name="CuadroTexto 21"/>
          <p:cNvSpPr txBox="1"/>
          <p:nvPr/>
        </p:nvSpPr>
        <p:spPr>
          <a:xfrm>
            <a:off x="87469" y="5981950"/>
            <a:ext cx="664864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PC4 y PC5 recogen variaciones adicionales de presión, viento y visibilidad, funcionando como componentes residuales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46D838F-CC38-4DD4-955C-44A4A837F957}"/>
              </a:ext>
            </a:extLst>
          </p:cNvPr>
          <p:cNvSpPr txBox="1"/>
          <p:nvPr/>
        </p:nvSpPr>
        <p:spPr>
          <a:xfrm>
            <a:off x="7809567" y="1216397"/>
            <a:ext cx="38659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US" sz="1500" dirty="0">
                <a:latin typeface="Arial Black" panose="020B0A04020102020204" pitchFamily="34" charset="0"/>
              </a:rPr>
              <a:t>En la componente 5 se alcanza más del 90% de la varianza acumulada. </a:t>
            </a:r>
            <a:r>
              <a:rPr lang="es-ES" sz="1500" dirty="0">
                <a:effectLst/>
                <a:latin typeface="Arial Black" panose="020B0A04020102020204" pitchFamily="34" charset="0"/>
                <a:ea typeface="Calibri" panose="020F0502020204030204" pitchFamily="34" charset="0"/>
              </a:rPr>
              <a:t>Logrando así pasar de un escenario complejo de 7 variables climáticas originales a solo 5 componentes principales</a:t>
            </a:r>
            <a:endParaRPr lang="es-ES" sz="1500" dirty="0">
              <a:latin typeface="Arial Black" panose="020B0A040201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14"/>
          <p:cNvSpPr/>
          <p:nvPr/>
        </p:nvSpPr>
        <p:spPr>
          <a:xfrm>
            <a:off x="6261489" y="3317815"/>
            <a:ext cx="5892335" cy="2223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CuadroTexto 17"/>
          <p:cNvSpPr txBox="1"/>
          <p:nvPr/>
        </p:nvSpPr>
        <p:spPr>
          <a:xfrm>
            <a:off x="2642765" y="223970"/>
            <a:ext cx="690646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Correlación entre </a:t>
            </a:r>
            <a:r>
              <a:rPr lang="es-E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componentes</a:t>
            </a:r>
            <a:r>
              <a:rPr lang="es-E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 principales y severidad</a:t>
            </a:r>
          </a:p>
        </p:txBody>
      </p:sp>
      <p:pic>
        <p:nvPicPr>
          <p:cNvPr id="20" name="Imagen 1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1495158"/>
            <a:ext cx="12192000" cy="2499615"/>
          </a:xfrm>
          <a:prstGeom prst="rect">
            <a:avLst/>
          </a:prstGeom>
        </p:spPr>
      </p:pic>
      <p:sp>
        <p:nvSpPr>
          <p:cNvPr id="21" name="CuadroTexto 20"/>
          <p:cNvSpPr txBox="1"/>
          <p:nvPr/>
        </p:nvSpPr>
        <p:spPr>
          <a:xfrm>
            <a:off x="245074" y="4487065"/>
            <a:ext cx="117018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v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Los cinco componentes principales derivados de las variables climáticas presentan correlaciones muy débiles con la severidad de los accidentes (|r| &lt; 0.1)</a:t>
            </a:r>
          </a:p>
        </p:txBody>
      </p:sp>
      <p:sp>
        <p:nvSpPr>
          <p:cNvPr id="22" name="CuadroTexto 21"/>
          <p:cNvSpPr txBox="1"/>
          <p:nvPr/>
        </p:nvSpPr>
        <p:spPr>
          <a:xfrm>
            <a:off x="245075" y="5355765"/>
            <a:ext cx="117018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v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Este resultado confirma que, aunque el PCA logra una reducción efectiva de 7 a 5 variables conservando aproximadamente 91% de la varianza total, las condiciones climáticas no son un factor determinante en la gravedad de los accidentes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/>
          <p:cNvSpPr txBox="1"/>
          <p:nvPr/>
        </p:nvSpPr>
        <p:spPr>
          <a:xfrm>
            <a:off x="931176" y="151002"/>
            <a:ext cx="10821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Clustering</a:t>
            </a:r>
            <a:r>
              <a:rPr lang="es-E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 de Accidentes: Método del Codo y K-Means</a:t>
            </a:r>
          </a:p>
        </p:txBody>
      </p:sp>
      <p:sp>
        <p:nvSpPr>
          <p:cNvPr id="5" name="CuadroTexto 4"/>
          <p:cNvSpPr txBox="1"/>
          <p:nvPr/>
        </p:nvSpPr>
        <p:spPr>
          <a:xfrm>
            <a:off x="429235" y="837936"/>
            <a:ext cx="113335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El método del codo se utilizó para determinar el número óptimo de clusters, evaluando la compactación mediante el score (−WCSS). </a:t>
            </a:r>
          </a:p>
        </p:txBody>
      </p:sp>
      <p:pic>
        <p:nvPicPr>
          <p:cNvPr id="9" name="Imagen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15" y="1361156"/>
            <a:ext cx="6174301" cy="5105185"/>
          </a:xfrm>
          <a:prstGeom prst="rect">
            <a:avLst/>
          </a:prstGeom>
        </p:spPr>
      </p:pic>
      <p:sp>
        <p:nvSpPr>
          <p:cNvPr id="10" name="CuadroTexto 9"/>
          <p:cNvSpPr txBox="1"/>
          <p:nvPr/>
        </p:nvSpPr>
        <p:spPr>
          <a:xfrm>
            <a:off x="6435755" y="2264464"/>
            <a:ext cx="5327009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§"/>
            </a:pPr>
            <a:endParaRPr lang="es-ES" sz="1400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Los clusters 1 y 3 concentran la mayor parte de las observaciones, lo que indica que el conjunto de datos representan los escenarios más comunes bajo los cuales ocurren los accidentes de tráfico.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endParaRPr lang="es-ES" sz="1400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El cluster 0 presenta un tamaño intermedio, lo que sugiere que este grupo podría estar asociado a condiciones particulares, como variaciones en la duración del evento, la infraestructura vial o el horario.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endParaRPr lang="es-ES" sz="1400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El cluster 2 agrupa un número muy reducido de observaciones, representando una fracción mínima del total. La presencia de este cluster indica la existencia de eventos atípicos o extremos que difieren significativamente del comportamiento general. </a:t>
            </a:r>
          </a:p>
        </p:txBody>
      </p:sp>
      <p:sp>
        <p:nvSpPr>
          <p:cNvPr id="11" name="CuadroTexto 10"/>
          <p:cNvSpPr txBox="1"/>
          <p:nvPr/>
        </p:nvSpPr>
        <p:spPr>
          <a:xfrm>
            <a:off x="6389616" y="1310357"/>
            <a:ext cx="540250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El algoritmo K-Means se aplicó con k = 4 sobre datos estandarizados, agrupando los accidentes en clusters con características homogéneas. La distribución resultante es desigual: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465" y="262383"/>
            <a:ext cx="6747283" cy="4486105"/>
          </a:xfrm>
          <a:prstGeom prst="rect">
            <a:avLst/>
          </a:prstGeom>
        </p:spPr>
      </p:pic>
      <p:sp>
        <p:nvSpPr>
          <p:cNvPr id="6" name="CuadroTexto 5"/>
          <p:cNvSpPr txBox="1"/>
          <p:nvPr/>
        </p:nvSpPr>
        <p:spPr>
          <a:xfrm>
            <a:off x="215579" y="6084689"/>
            <a:ext cx="115799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Distribución de Temperatura: El Cluster 1 tiene la base más ancha en temperaturas bajas, lo que respalda su perfil asociado a condiciones climáticas más frías o matutinas.</a:t>
            </a:r>
          </a:p>
        </p:txBody>
      </p:sp>
      <p:sp>
        <p:nvSpPr>
          <p:cNvPr id="7" name="CuadroTexto 6"/>
          <p:cNvSpPr txBox="1"/>
          <p:nvPr/>
        </p:nvSpPr>
        <p:spPr>
          <a:xfrm>
            <a:off x="7391008" y="356316"/>
            <a:ext cx="448841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La imagen muestra la distribución de variables clave por cluster mediante gráficos tipo violín, lo que permite visualizar la densidad y variabilidad interna de cada grupo: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7382926" y="1626605"/>
            <a:ext cx="441260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Distribución de Severidad: Es el gráfico más revelador. Confirma que el Cluster 0 es el único enfocado en accidentes de alta gravedad (niveles 3 y 4), mientras que los clusters 1, 2 y 3 están masivamente concentrados en la severidad 2</a:t>
            </a:r>
          </a:p>
        </p:txBody>
      </p:sp>
      <p:sp>
        <p:nvSpPr>
          <p:cNvPr id="9" name="CuadroTexto 8"/>
          <p:cNvSpPr txBox="1"/>
          <p:nvPr/>
        </p:nvSpPr>
        <p:spPr>
          <a:xfrm>
            <a:off x="7391008" y="3248626"/>
            <a:ext cx="441260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Distribución de Humedad: El Cluster 3 se diferencia claramente por presentar los niveles de humedad más altos y constantes, lo que lo define como el perfil de accidentes en condiciones húmedas.</a:t>
            </a:r>
          </a:p>
        </p:txBody>
      </p:sp>
      <p:sp>
        <p:nvSpPr>
          <p:cNvPr id="10" name="CuadroTexto 9"/>
          <p:cNvSpPr txBox="1"/>
          <p:nvPr/>
        </p:nvSpPr>
        <p:spPr>
          <a:xfrm>
            <a:off x="215579" y="5346025"/>
            <a:ext cx="1157995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Distribución de duración: Aquí vemos por qué el Cluster 2 es el de "eventos atípicos". Su "cola" es mucho más larga que las demás, lo que indica accidentes que bloquearon el tráfico por tiempos extremadamente prolongados.</a:t>
            </a:r>
          </a:p>
        </p:txBody>
      </p:sp>
      <p:sp>
        <p:nvSpPr>
          <p:cNvPr id="11" name="CuadroTexto 10"/>
          <p:cNvSpPr txBox="1"/>
          <p:nvPr/>
        </p:nvSpPr>
        <p:spPr>
          <a:xfrm>
            <a:off x="223661" y="4789568"/>
            <a:ext cx="115799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Distribución de Hora de Inicio: El Cluster 1 muestra un pico en las primeras horas de la mañana. El Cluster 0 (el más severo) ocurre predominantemente alrededor del mediodía y el Cluster 2 se inclina hacia la tarde-noche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/>
          <p:cNvSpPr/>
          <p:nvPr/>
        </p:nvSpPr>
        <p:spPr>
          <a:xfrm>
            <a:off x="322968" y="4768652"/>
            <a:ext cx="11546064" cy="1890032"/>
          </a:xfrm>
          <a:prstGeom prst="rect">
            <a:avLst/>
          </a:prstGeom>
          <a:solidFill>
            <a:srgbClr val="13D31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Rectángulo 10"/>
          <p:cNvSpPr/>
          <p:nvPr/>
        </p:nvSpPr>
        <p:spPr>
          <a:xfrm>
            <a:off x="322968" y="2724224"/>
            <a:ext cx="11546064" cy="1890032"/>
          </a:xfrm>
          <a:prstGeom prst="rect">
            <a:avLst/>
          </a:prstGeom>
          <a:solidFill>
            <a:srgbClr val="FAB0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0" name="Rectángulo 9"/>
          <p:cNvSpPr/>
          <p:nvPr/>
        </p:nvSpPr>
        <p:spPr>
          <a:xfrm>
            <a:off x="322968" y="598721"/>
            <a:ext cx="11546064" cy="197110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3"/>
          <p:cNvSpPr txBox="1"/>
          <p:nvPr/>
        </p:nvSpPr>
        <p:spPr>
          <a:xfrm>
            <a:off x="1551964" y="75501"/>
            <a:ext cx="9404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>
                <a:solidFill>
                  <a:schemeClr val="tx1">
                    <a:lumMod val="85000"/>
                    <a:lumOff val="15000"/>
                  </a:schemeClr>
                </a:solidFill>
                <a:latin typeface="Arial Black" panose="020B0A04020102020204" pitchFamily="34" charset="0"/>
              </a:rPr>
              <a:t>Respuestas a las Preguntas de Investigación</a:t>
            </a:r>
            <a:endParaRPr lang="es-ES" sz="2800" dirty="0">
              <a:solidFill>
                <a:schemeClr val="tx1">
                  <a:lumMod val="85000"/>
                  <a:lumOff val="1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5" name="CuadroTexto 4"/>
          <p:cNvSpPr txBox="1"/>
          <p:nvPr/>
        </p:nvSpPr>
        <p:spPr>
          <a:xfrm>
            <a:off x="477469" y="734841"/>
            <a:ext cx="112370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Pregunta 1: ¿Qué factores ambientales y temporales están más fuertemente asociados con la severidad de los accidentes de tráfico?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477468" y="2844224"/>
            <a:ext cx="112370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Pregunta 2: ¿Existen patrones temporales significativos en la ocurrencia de accidentes (hora del día, día de la semana, estacionalidad)?</a:t>
            </a:r>
          </a:p>
        </p:txBody>
      </p:sp>
      <p:sp>
        <p:nvSpPr>
          <p:cNvPr id="7" name="CuadroTexto 6"/>
          <p:cNvSpPr txBox="1"/>
          <p:nvPr/>
        </p:nvSpPr>
        <p:spPr>
          <a:xfrm>
            <a:off x="477467" y="4856634"/>
            <a:ext cx="112370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Pregunta 3: ¿Cómo varían las características de los accidentes entre diferentes estados y condiciones climáticas?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477469" y="1258061"/>
            <a:ext cx="11237061" cy="1383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alt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El mes</a:t>
            </a:r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 es el factor dominante en la severidad de los accidentes</a:t>
            </a:r>
            <a:r>
              <a:rPr lang="en-US" alt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altLang="en-US" sz="1400" dirty="0">
                <a:solidFill>
                  <a:schemeClr val="bg1"/>
                </a:solidFill>
                <a:latin typeface="Arial Black" panose="020B0A04020102020204" pitchFamily="34" charset="0"/>
              </a:rPr>
              <a:t>reflejando que los meses de mayor demanda y variabilidad climática concentran los mayores impactos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La ubicación geográfica (estado)</a:t>
            </a:r>
            <a:r>
              <a:rPr lang="en-US" alt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 y la </a:t>
            </a:r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  <a:sym typeface="+mn-ea"/>
              </a:rPr>
              <a:t>infraestructura vial (semáforos)</a:t>
            </a:r>
            <a:r>
              <a:rPr lang="en-US" alt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 conforman</a:t>
            </a:r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 el segundo</a:t>
            </a:r>
            <a:r>
              <a:rPr lang="en-US" alt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 y tercer</a:t>
            </a:r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 predictor</a:t>
            </a:r>
            <a:r>
              <a:rPr lang="en-US" alt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es</a:t>
            </a:r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 más importante</a:t>
            </a:r>
            <a:r>
              <a:rPr lang="en-US" alt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s</a:t>
            </a:r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El clima y el tiempo no predicen severidad por sí solos; actúan como factores moderadores dentro de contextos de infraestructura.</a:t>
            </a:r>
          </a:p>
        </p:txBody>
      </p:sp>
      <p:sp>
        <p:nvSpPr>
          <p:cNvPr id="13" name="CuadroTexto 12"/>
          <p:cNvSpPr txBox="1"/>
          <p:nvPr/>
        </p:nvSpPr>
        <p:spPr>
          <a:xfrm>
            <a:off x="477469" y="3379445"/>
            <a:ext cx="11237060" cy="1168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Existen patrones temporales claros en la frecuencia de accidentes (horas pico, días laborales, estacionalidad).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La influencia temporal en la severidad es secundaria y está mediada por el volumen de tráfico y la infraestructura.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El tiempo explica cuándo ocurren los accidentes, no qué tan severos son.</a:t>
            </a:r>
          </a:p>
        </p:txBody>
      </p:sp>
      <p:sp>
        <p:nvSpPr>
          <p:cNvPr id="14" name="CuadroTexto 13"/>
          <p:cNvSpPr txBox="1"/>
          <p:nvPr/>
        </p:nvSpPr>
        <p:spPr>
          <a:xfrm>
            <a:off x="477467" y="5384495"/>
            <a:ext cx="1123706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Hay fuertes diferencias regionales: el estado es uno de los predictores más importantes de severidad.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endParaRPr lang="es-ES" sz="14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Las condiciones climáticas muestran efectos contextuales y no universales.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endParaRPr lang="es-ES" sz="14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s-ES" sz="1400" dirty="0">
                <a:solidFill>
                  <a:schemeClr val="bg1"/>
                </a:solidFill>
                <a:latin typeface="Arial Black" panose="020B0A04020102020204" pitchFamily="34" charset="0"/>
              </a:rPr>
              <a:t>No existe una política de seguridad vial única: las intervenciones deben ser específicas por estado.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1548</Words>
  <Application>Microsoft Office PowerPoint</Application>
  <PresentationFormat>Panorámica</PresentationFormat>
  <Paragraphs>91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9" baseType="lpstr">
      <vt:lpstr>Arial</vt:lpstr>
      <vt:lpstr>Arial Black</vt:lpstr>
      <vt:lpstr>Calibri</vt:lpstr>
      <vt:lpstr>Calibri Light</vt:lpstr>
      <vt:lpstr>Courier New</vt:lpstr>
      <vt:lpstr>Wingdings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Adriana Boue</dc:creator>
  <cp:lastModifiedBy>Adriana Boue</cp:lastModifiedBy>
  <cp:revision>39</cp:revision>
  <dcterms:created xsi:type="dcterms:W3CDTF">2026-01-11T22:37:00Z</dcterms:created>
  <dcterms:modified xsi:type="dcterms:W3CDTF">2026-01-19T04:58:11Z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77A27BD0CEA44E819DDD912BE994BFEB_12</vt:lpwstr>
  </property>
  <property fmtid="{D5CDD505-2E9C-101B-9397-08002B2CF9AE}" pid="3" name="KSOProductBuildVer">
    <vt:lpwstr>1033-12.2.0.23131</vt:lpwstr>
  </property>
</Properties>
</file>